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loss</c:v>
                </c:pt>
              </c:strCache>
            </c:strRef>
          </c:tx>
          <c:spPr>
            <a:solidFill>
              <a:srgbClr val="22D3EE"/>
            </a:solidFill>
            <a:ln w="31750" cap="flat">
              <a:solidFill>
                <a:srgbClr val="22D3EE"/>
              </a:solidFill>
              <a:prstDash val="solid"/>
              <a:round/>
            </a:ln>
            <a:effectLst/>
          </c:spPr>
          <c:invertIfNegative val="0"/>
          <c:dLbls>
            <c:numFmt formatCode="0.00" sourceLinked="0"/>
            <c:txPr>
              <a:bodyPr/>
              <a:lstStyle/>
              <a:p>
                <a:pPr>
                  <a:defRPr b="0" i="0" strike="noStrike" sz="1000" u="none">
                    <a:solidFill>
                      <a:srgbClr val="F1F5F9"/>
                    </a:solidFill>
                    <a:latin typeface="Arial"/>
                  </a:defRPr>
                </a:pPr>
              </a:p>
            </c:txPr>
            <c:dLblPos val="t"/>
            <c:showLegendKey val="0"/>
            <c:showVal val="1"/>
            <c:showCatName val="0"/>
            <c:showSerName val="0"/>
            <c:showPercent val="0"/>
            <c:showBubbleSize val="0"/>
            <c:showLeaderLines val="0"/>
          </c:dLbls>
          <c:marker>
            <c:symbol val="circle"/>
            <c:size val="7"/>
            <c:spPr>
              <a:solidFill>
                <a:srgbClr val="22D3EE"/>
              </a:solidFill>
              <a:ln w="12700" cap="flat">
                <a:solidFill>
                  <a:srgbClr val="0A0F1E"/>
                </a:solidFill>
                <a:prstDash val="solid"/>
                <a:round/>
              </a:ln>
              <a:effectLst/>
            </c:spPr>
          </c:marker>
          <c:cat>
            <c:multiLvlStrRef>
              <c:f>Sheet1!$A$2:$A$4</c:f>
              <c:multiLvlStrCache>
                <c:ptCount val="3"/>
                <c:lvl>
                  <c:pt idx="0">
                    <c:v>Step 1</c:v>
                  </c:pt>
                  <c:pt idx="1">
                    <c:v>Step 2</c:v>
                  </c:pt>
                  <c:pt idx="2">
                    <c:v>Step 3</c:v>
                  </c:pt>
                </c:lvl>
              </c:multiLvlStrCache>
            </c:multiLvlStrRef>
          </c:cat>
          <c:val>
            <c:numRef>
              <c:f>Sheet1!$B$2:$B$4</c:f>
              <c:numCache>
                <c:formatCode>General</c:formatCode>
                <c:ptCount val="3"/>
                <c:pt idx="0">
                  <c:v>6.0642</c:v>
                </c:pt>
                <c:pt idx="1">
                  <c:v>6.0598</c:v>
                </c:pt>
                <c:pt idx="2">
                  <c:v>6.0544</c:v>
                </c:pt>
              </c:numCache>
            </c:numRef>
          </c:val>
          <c:smooth val="0"/>
        </c:ser>
        <c:ser>
          <c:idx val="1"/>
          <c:order val="1"/>
          <c:tx>
            <c:strRef>
              <c:f>Sheet1!$C$1</c:f>
              <c:strCache>
                <c:ptCount val="1"/>
                <c:pt idx="0">
                  <c:v>Validation loss</c:v>
                </c:pt>
              </c:strCache>
            </c:strRef>
          </c:tx>
          <c:spPr>
            <a:solidFill>
              <a:srgbClr val="A78BFA"/>
            </a:solidFill>
            <a:ln w="31750" cap="flat">
              <a:solidFill>
                <a:srgbClr val="A78BFA"/>
              </a:solidFill>
              <a:prstDash val="solid"/>
              <a:round/>
            </a:ln>
            <a:effectLst/>
          </c:spPr>
          <c:invertIfNegative val="0"/>
          <c:dLbls>
            <c:numFmt formatCode="0.00" sourceLinked="0"/>
            <c:txPr>
              <a:bodyPr/>
              <a:lstStyle/>
              <a:p>
                <a:pPr>
                  <a:defRPr b="0" i="0" strike="noStrike" sz="1000" u="none">
                    <a:solidFill>
                      <a:srgbClr val="F1F5F9"/>
                    </a:solidFill>
                    <a:latin typeface="Arial"/>
                  </a:defRPr>
                </a:pPr>
              </a:p>
            </c:txPr>
            <c:dLblPos val="t"/>
            <c:showLegendKey val="0"/>
            <c:showVal val="1"/>
            <c:showCatName val="0"/>
            <c:showSerName val="0"/>
            <c:showPercent val="0"/>
            <c:showBubbleSize val="0"/>
            <c:showLeaderLines val="0"/>
          </c:dLbls>
          <c:marker>
            <c:symbol val="circle"/>
            <c:size val="7"/>
            <c:spPr>
              <a:solidFill>
                <a:srgbClr val="A78BFA"/>
              </a:solidFill>
              <a:ln w="12700" cap="flat">
                <a:solidFill>
                  <a:srgbClr val="0A0F1E"/>
                </a:solidFill>
                <a:prstDash val="solid"/>
                <a:round/>
              </a:ln>
              <a:effectLst/>
            </c:spPr>
          </c:marker>
          <c:cat>
            <c:multiLvlStrRef>
              <c:f>Sheet1!$A$2:$A$4</c:f>
              <c:multiLvlStrCache>
                <c:ptCount val="3"/>
                <c:lvl>
                  <c:pt idx="0">
                    <c:v>Step 1</c:v>
                  </c:pt>
                  <c:pt idx="1">
                    <c:v>Step 2</c:v>
                  </c:pt>
                  <c:pt idx="2">
                    <c:v>Step 3</c:v>
                  </c:pt>
                </c:lvl>
              </c:multiLvlStrCache>
            </c:multiLvlStrRef>
          </c:cat>
          <c:val>
            <c:numRef>
              <c:f>Sheet1!$C$2:$C$4</c:f>
              <c:numCache>
                <c:formatCode>General</c:formatCode>
                <c:ptCount val="3"/>
                <c:pt idx="0">
                  <c:v>6.1477</c:v>
                </c:pt>
                <c:pt idx="1">
                  <c:v>6.0243</c:v>
                </c:pt>
                <c:pt idx="2">
                  <c:v>5.9859</c:v>
                </c:pt>
              </c:numCache>
            </c:numRef>
          </c:val>
          <c:smooth val="0"/>
        </c:ser>
        <c:dLbls>
          <c:numFmt formatCode="0.00" sourceLinked="0"/>
          <c:txPr>
            <a:bodyPr/>
            <a:lstStyle/>
            <a:p>
              <a:pPr>
                <a:defRPr b="0" i="0" strike="noStrike" sz="1000" u="none">
                  <a:solidFill>
                    <a:srgbClr val="F1F5F9"/>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263353"/>
            </a:solidFill>
            <a:prstDash val="solid"/>
            <a:round/>
          </a:ln>
        </c:spPr>
        <c:txPr>
          <a:bodyPr/>
          <a:lstStyle/>
          <a:p>
            <a:pPr>
              <a:defRPr sz="1100" b="0" i="0" u="none" strike="noStrike">
                <a:solidFill>
                  <a:srgbClr val="8592AD"/>
                </a:solidFill>
                <a:latin typeface="Arial"/>
              </a:defRPr>
            </a:pPr>
            <a:endParaRPr lang="en-US"/>
          </a:p>
        </c:txPr>
        <c:crossAx val="2094734552"/>
        <c:crosses val="autoZero"/>
        <c:auto val="1"/>
        <c:lblAlgn val="ctr"/>
        <c:noMultiLvlLbl val="1"/>
      </c:catAx>
      <c:valAx>
        <c:axId val="2094734552"/>
        <c:scaling>
          <c:orientation val="minMax"/>
          <c:max val="6.25"/>
          <c:min val="5.85"/>
        </c:scaling>
        <c:delete val="0"/>
        <c:axPos val="l"/>
        <c:majorGridlines>
          <c:spPr>
            <a:ln w="9525" cap="flat">
              <a:solidFill>
                <a:srgbClr val="263353"/>
              </a:solidFill>
              <a:prstDash val="solid"/>
              <a:round/>
            </a:ln>
          </c:spPr>
        </c:majorGridlines>
        <c:title>
          <c:tx>
            <c:rich>
              <a:bodyPr/>
              <a:lstStyle/>
              <a:p>
                <a:pPr>
                  <a:defRPr sz="1000" b="0" i="0" u="none" strike="noStrike">
                    <a:solidFill>
                      <a:srgbClr val="8592AD"/>
                    </a:solidFill>
                    <a:latin typeface="Arial"/>
                  </a:defRPr>
                </a:pPr>
                <a:r>
                  <a:rPr sz="1000" b="0" i="0" u="none" strike="noStrike">
                    <a:solidFill>
                      <a:srgbClr val="8592AD"/>
                    </a:solidFill>
                    <a:latin typeface="Arial"/>
                  </a:rPr>
                  <a:t>Loss (lower is better)</a:t>
                </a:r>
              </a:p>
            </c:rich>
          </c:tx>
          <c:layout/>
          <c:overlay val="0"/>
        </c:title>
        <c:numFmt formatCode="General" sourceLinked="0"/>
        <c:majorTickMark val="out"/>
        <c:minorTickMark val="none"/>
        <c:tickLblPos val="nextTo"/>
        <c:spPr>
          <a:ln w="12700" cap="flat">
            <a:solidFill>
              <a:srgbClr val="263353"/>
            </a:solidFill>
            <a:prstDash val="solid"/>
            <a:round/>
          </a:ln>
        </c:spPr>
        <c:txPr>
          <a:bodyPr/>
          <a:lstStyle/>
          <a:p>
            <a:pPr>
              <a:defRPr sz="1000" b="0" i="0" u="none" strike="noStrike">
                <a:solidFill>
                  <a:srgbClr val="8592AD"/>
                </a:solidFill>
                <a:latin typeface="Arial"/>
              </a:defRPr>
            </a:pPr>
            <a:endParaRPr lang="en-US"/>
          </a:p>
        </c:txPr>
        <c:crossAx val="2094734554"/>
        <c:crosses val="autoZero"/>
        <c:crossBetween val="between"/>
      </c:valAx>
      <c:spPr>
        <a:solidFill>
          <a:srgbClr val="0A0F1E"/>
        </a:solidFill>
        <a:ln>
          <a:noFill/>
        </a:ln>
        <a:effectLst/>
      </c:spPr>
    </c:plotArea>
    <c:legend>
      <c:legendPos val="b"/>
      <c:overlay val="0"/>
      <c:txPr>
        <a:bodyPr/>
        <a:lstStyle/>
        <a:p>
          <a:pPr>
            <a:defRPr sz="1100">
              <a:solidFill>
                <a:srgbClr val="8592AD"/>
              </a:solidFill>
            </a:defRPr>
          </a:pPr>
          <a:endParaRPr lang="en-US"/>
        </a:p>
      </c:txPr>
    </c:legend>
    <c:plotVisOnly val="1"/>
    <c:dispBlanksAs val="span"/>
  </c:chart>
  <c:spPr>
    <a:solidFill>
      <a:srgbClr val="0A0F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EmergeGPT is a governed operating layer for model improvement. It links CRAFT catalog evidence to reviewed datasets, managed Nebius LoRA runs, immutable history, and explainable operations. Current training is complete; adapter deployment and quality lift remain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buyers care because model changes are otherwise scattered across logs, notebooks, datasets, and cloud jobs. The business risk is not only model cost: it is unreproducible decisions, weak approval evidence, and no safe promotion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supplies project-scoped Firebase and GA4 metadata. EmergeGPT turns reviewed policy templates into versioned data, submits LoRA through Nebius, and records results. It does not bake live rows into the model. Deployment and identical-prompt base-versus-adapter evaluation are the next gate. Sources: docs.emergence.ai/getting-started/introduction; docs.tokenfactory.nebius.com/post-training/how-to-fine-tune.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proof is operational, not a model-quality claim: three jobs succeeded; the current dataset has 200 deterministic examples split 100/100; the UI shows loss and immutable session history; voice Q&amp;A cites an allowlist. The dataset is template-derived, not 200 live MCP execution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EmergeGPT service bands, not vendor quotes or observed market averages. Pilot: $50K–$125K. Production platform: $150K–$500K annually. Complex regulated rollout: $500K–$1.5M first year. Consumption is separate. Buyers pay for integration, policy design, evaluation, security, support, and accountability. Sources: nebius.com/token-factory/prices; aws.amazon.com/sagemaker/ai/pricing; unsloth.ai.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Unsloth is excellent at efficient local training, inference, broad model support, GGUF export, and lower VRAM. EmergeGPT does not replace or outperform those kernels. It simplifies a different layer: CRAFT-grounded evidence, review, managed Nebius jobs, history, budgets, and enterprise explanation. The products can be complementary. Source: unsloth.ai/docs.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2162715" y="767237"/>
            <a:ext cx="988447" cy="1559092"/>
          </a:xfrm>
          <a:prstGeom prst="line">
            <a:avLst/>
          </a:prstGeom>
          <a:noFill/>
          <a:ln w="6350">
            <a:solidFill>
              <a:srgbClr val="141E36"/>
            </a:solidFill>
            <a:prstDash val="solid"/>
          </a:ln>
        </p:spPr>
      </p:sp>
      <p:sp>
        <p:nvSpPr>
          <p:cNvPr id="3" name="Shape 1"/>
          <p:cNvSpPr/>
          <p:nvPr/>
        </p:nvSpPr>
        <p:spPr>
          <a:xfrm>
            <a:off x="2297347" y="5413151"/>
            <a:ext cx="1642531" cy="511902"/>
          </a:xfrm>
          <a:prstGeom prst="line">
            <a:avLst/>
          </a:prstGeom>
          <a:noFill/>
          <a:ln w="6350">
            <a:solidFill>
              <a:srgbClr val="141E36"/>
            </a:solidFill>
            <a:prstDash val="solid"/>
          </a:ln>
        </p:spPr>
      </p:sp>
      <p:sp>
        <p:nvSpPr>
          <p:cNvPr id="4" name="Shape 2"/>
          <p:cNvSpPr/>
          <p:nvPr/>
        </p:nvSpPr>
        <p:spPr>
          <a:xfrm>
            <a:off x="752539" y="4870508"/>
            <a:ext cx="1544807" cy="542644"/>
          </a:xfrm>
          <a:prstGeom prst="line">
            <a:avLst/>
          </a:prstGeom>
          <a:noFill/>
          <a:ln w="6350">
            <a:solidFill>
              <a:srgbClr val="141E36"/>
            </a:solidFill>
            <a:prstDash val="solid"/>
          </a:ln>
        </p:spPr>
      </p:sp>
      <p:sp>
        <p:nvSpPr>
          <p:cNvPr id="5" name="Shape 3"/>
          <p:cNvSpPr/>
          <p:nvPr/>
        </p:nvSpPr>
        <p:spPr>
          <a:xfrm>
            <a:off x="1356297" y="5330566"/>
            <a:ext cx="941050" cy="82585"/>
          </a:xfrm>
          <a:prstGeom prst="line">
            <a:avLst/>
          </a:prstGeom>
          <a:noFill/>
          <a:ln w="6350">
            <a:solidFill>
              <a:srgbClr val="141E36"/>
            </a:solidFill>
            <a:prstDash val="solid"/>
          </a:ln>
        </p:spPr>
      </p:sp>
      <p:sp>
        <p:nvSpPr>
          <p:cNvPr id="6" name="Shape 4"/>
          <p:cNvSpPr/>
          <p:nvPr/>
        </p:nvSpPr>
        <p:spPr>
          <a:xfrm>
            <a:off x="1356297" y="4094502"/>
            <a:ext cx="1621426" cy="1236064"/>
          </a:xfrm>
          <a:prstGeom prst="line">
            <a:avLst/>
          </a:prstGeom>
          <a:noFill/>
          <a:ln w="6350">
            <a:solidFill>
              <a:srgbClr val="141E36"/>
            </a:solidFill>
            <a:prstDash val="solid"/>
          </a:ln>
        </p:spPr>
      </p:sp>
      <p:sp>
        <p:nvSpPr>
          <p:cNvPr id="7" name="Shape 5"/>
          <p:cNvSpPr/>
          <p:nvPr/>
        </p:nvSpPr>
        <p:spPr>
          <a:xfrm>
            <a:off x="1356297" y="5330566"/>
            <a:ext cx="169357" cy="646852"/>
          </a:xfrm>
          <a:prstGeom prst="line">
            <a:avLst/>
          </a:prstGeom>
          <a:noFill/>
          <a:ln w="6350">
            <a:solidFill>
              <a:srgbClr val="141E36"/>
            </a:solidFill>
            <a:prstDash val="solid"/>
          </a:ln>
        </p:spPr>
      </p:sp>
      <p:sp>
        <p:nvSpPr>
          <p:cNvPr id="8" name="Shape 6"/>
          <p:cNvSpPr/>
          <p:nvPr/>
        </p:nvSpPr>
        <p:spPr>
          <a:xfrm>
            <a:off x="2297347" y="4275311"/>
            <a:ext cx="700998" cy="1137840"/>
          </a:xfrm>
          <a:prstGeom prst="line">
            <a:avLst/>
          </a:prstGeom>
          <a:noFill/>
          <a:ln w="6350">
            <a:solidFill>
              <a:srgbClr val="141E36"/>
            </a:solidFill>
            <a:prstDash val="solid"/>
          </a:ln>
        </p:spPr>
      </p:sp>
      <p:sp>
        <p:nvSpPr>
          <p:cNvPr id="9" name="Shape 7"/>
          <p:cNvSpPr/>
          <p:nvPr/>
        </p:nvSpPr>
        <p:spPr>
          <a:xfrm>
            <a:off x="1525654" y="5413151"/>
            <a:ext cx="771692" cy="564267"/>
          </a:xfrm>
          <a:prstGeom prst="line">
            <a:avLst/>
          </a:prstGeom>
          <a:noFill/>
          <a:ln w="6350">
            <a:solidFill>
              <a:srgbClr val="141E36"/>
            </a:solidFill>
            <a:prstDash val="solid"/>
          </a:ln>
        </p:spPr>
      </p:sp>
      <p:sp>
        <p:nvSpPr>
          <p:cNvPr id="10" name="Shape 8"/>
          <p:cNvSpPr/>
          <p:nvPr/>
        </p:nvSpPr>
        <p:spPr>
          <a:xfrm>
            <a:off x="7119566" y="365710"/>
            <a:ext cx="40234" cy="40234"/>
          </a:xfrm>
          <a:prstGeom prst="ellipse">
            <a:avLst/>
          </a:prstGeom>
          <a:solidFill>
            <a:srgbClr val="141E36"/>
          </a:solidFill>
          <a:ln w="12700">
            <a:solidFill>
              <a:srgbClr val="141E36"/>
            </a:solidFill>
            <a:prstDash val="solid"/>
          </a:ln>
        </p:spPr>
      </p:sp>
      <p:sp>
        <p:nvSpPr>
          <p:cNvPr id="11" name="Shape 9"/>
          <p:cNvSpPr/>
          <p:nvPr/>
        </p:nvSpPr>
        <p:spPr>
          <a:xfrm>
            <a:off x="2142598" y="2306212"/>
            <a:ext cx="40234" cy="40234"/>
          </a:xfrm>
          <a:prstGeom prst="ellipse">
            <a:avLst/>
          </a:prstGeom>
          <a:solidFill>
            <a:srgbClr val="141E36"/>
          </a:solidFill>
          <a:ln w="12700">
            <a:solidFill>
              <a:srgbClr val="141E36"/>
            </a:solidFill>
            <a:prstDash val="solid"/>
          </a:ln>
        </p:spPr>
      </p:sp>
      <p:sp>
        <p:nvSpPr>
          <p:cNvPr id="12" name="Shape 10"/>
          <p:cNvSpPr/>
          <p:nvPr/>
        </p:nvSpPr>
        <p:spPr>
          <a:xfrm>
            <a:off x="3919761" y="5904936"/>
            <a:ext cx="40234" cy="40234"/>
          </a:xfrm>
          <a:prstGeom prst="ellipse">
            <a:avLst/>
          </a:prstGeom>
          <a:solidFill>
            <a:srgbClr val="141E36"/>
          </a:solidFill>
          <a:ln w="12700">
            <a:solidFill>
              <a:srgbClr val="141E36"/>
            </a:solidFill>
            <a:prstDash val="solid"/>
          </a:ln>
        </p:spPr>
      </p:sp>
      <p:sp>
        <p:nvSpPr>
          <p:cNvPr id="13" name="Shape 11"/>
          <p:cNvSpPr/>
          <p:nvPr/>
        </p:nvSpPr>
        <p:spPr>
          <a:xfrm>
            <a:off x="7493113" y="4135111"/>
            <a:ext cx="40234" cy="40234"/>
          </a:xfrm>
          <a:prstGeom prst="ellipse">
            <a:avLst/>
          </a:prstGeom>
          <a:solidFill>
            <a:srgbClr val="141E36"/>
          </a:solidFill>
          <a:ln w="12700">
            <a:solidFill>
              <a:srgbClr val="141E36"/>
            </a:solidFill>
            <a:prstDash val="solid"/>
          </a:ln>
        </p:spPr>
      </p:sp>
      <p:sp>
        <p:nvSpPr>
          <p:cNvPr id="14" name="Shape 12"/>
          <p:cNvSpPr/>
          <p:nvPr/>
        </p:nvSpPr>
        <p:spPr>
          <a:xfrm>
            <a:off x="6598490" y="3295079"/>
            <a:ext cx="40234" cy="40234"/>
          </a:xfrm>
          <a:prstGeom prst="ellipse">
            <a:avLst/>
          </a:prstGeom>
          <a:solidFill>
            <a:srgbClr val="141E36"/>
          </a:solidFill>
          <a:ln w="12700">
            <a:solidFill>
              <a:srgbClr val="141E36"/>
            </a:solidFill>
            <a:prstDash val="solid"/>
          </a:ln>
        </p:spPr>
      </p:sp>
      <p:sp>
        <p:nvSpPr>
          <p:cNvPr id="15" name="Shape 13"/>
          <p:cNvSpPr/>
          <p:nvPr/>
        </p:nvSpPr>
        <p:spPr>
          <a:xfrm>
            <a:off x="6856439" y="1351933"/>
            <a:ext cx="40234" cy="40234"/>
          </a:xfrm>
          <a:prstGeom prst="ellipse">
            <a:avLst/>
          </a:prstGeom>
          <a:solidFill>
            <a:srgbClr val="141E36"/>
          </a:solidFill>
          <a:ln w="12700">
            <a:solidFill>
              <a:srgbClr val="141E36"/>
            </a:solidFill>
            <a:prstDash val="solid"/>
          </a:ln>
        </p:spPr>
      </p:sp>
      <p:sp>
        <p:nvSpPr>
          <p:cNvPr id="16" name="Shape 14"/>
          <p:cNvSpPr/>
          <p:nvPr/>
        </p:nvSpPr>
        <p:spPr>
          <a:xfrm>
            <a:off x="732423" y="4850391"/>
            <a:ext cx="40234" cy="40234"/>
          </a:xfrm>
          <a:prstGeom prst="ellipse">
            <a:avLst/>
          </a:prstGeom>
          <a:solidFill>
            <a:srgbClr val="141E36"/>
          </a:solidFill>
          <a:ln w="12700">
            <a:solidFill>
              <a:srgbClr val="141E36"/>
            </a:solidFill>
            <a:prstDash val="solid"/>
          </a:ln>
        </p:spPr>
      </p:sp>
      <p:sp>
        <p:nvSpPr>
          <p:cNvPr id="17" name="Shape 15"/>
          <p:cNvSpPr/>
          <p:nvPr/>
        </p:nvSpPr>
        <p:spPr>
          <a:xfrm>
            <a:off x="1336180" y="5310449"/>
            <a:ext cx="40234" cy="40234"/>
          </a:xfrm>
          <a:prstGeom prst="ellipse">
            <a:avLst/>
          </a:prstGeom>
          <a:solidFill>
            <a:srgbClr val="141E36"/>
          </a:solidFill>
          <a:ln w="12700">
            <a:solidFill>
              <a:srgbClr val="141E36"/>
            </a:solidFill>
            <a:prstDash val="solid"/>
          </a:ln>
        </p:spPr>
      </p:sp>
      <p:sp>
        <p:nvSpPr>
          <p:cNvPr id="18" name="Shape 16"/>
          <p:cNvSpPr/>
          <p:nvPr/>
        </p:nvSpPr>
        <p:spPr>
          <a:xfrm>
            <a:off x="11454139" y="6684866"/>
            <a:ext cx="40234" cy="40234"/>
          </a:xfrm>
          <a:prstGeom prst="ellipse">
            <a:avLst/>
          </a:prstGeom>
          <a:solidFill>
            <a:srgbClr val="141E36"/>
          </a:solidFill>
          <a:ln w="12700">
            <a:solidFill>
              <a:srgbClr val="141E36"/>
            </a:solidFill>
            <a:prstDash val="solid"/>
          </a:ln>
        </p:spPr>
      </p:sp>
      <p:sp>
        <p:nvSpPr>
          <p:cNvPr id="19" name="Shape 17"/>
          <p:cNvSpPr/>
          <p:nvPr/>
        </p:nvSpPr>
        <p:spPr>
          <a:xfrm>
            <a:off x="10348244" y="730289"/>
            <a:ext cx="40234" cy="40234"/>
          </a:xfrm>
          <a:prstGeom prst="ellipse">
            <a:avLst/>
          </a:prstGeom>
          <a:solidFill>
            <a:srgbClr val="141E36"/>
          </a:solidFill>
          <a:ln w="12700">
            <a:solidFill>
              <a:srgbClr val="141E36"/>
            </a:solidFill>
            <a:prstDash val="solid"/>
          </a:ln>
        </p:spPr>
      </p:sp>
      <p:sp>
        <p:nvSpPr>
          <p:cNvPr id="20" name="Shape 18"/>
          <p:cNvSpPr/>
          <p:nvPr/>
        </p:nvSpPr>
        <p:spPr>
          <a:xfrm>
            <a:off x="2978228" y="4255194"/>
            <a:ext cx="40234" cy="40234"/>
          </a:xfrm>
          <a:prstGeom prst="ellipse">
            <a:avLst/>
          </a:prstGeom>
          <a:solidFill>
            <a:srgbClr val="141E36"/>
          </a:solidFill>
          <a:ln w="12700">
            <a:solidFill>
              <a:srgbClr val="141E36"/>
            </a:solidFill>
            <a:prstDash val="solid"/>
          </a:ln>
        </p:spPr>
      </p:sp>
      <p:sp>
        <p:nvSpPr>
          <p:cNvPr id="21" name="Shape 19"/>
          <p:cNvSpPr/>
          <p:nvPr/>
        </p:nvSpPr>
        <p:spPr>
          <a:xfrm>
            <a:off x="2277230" y="5393034"/>
            <a:ext cx="40234" cy="40234"/>
          </a:xfrm>
          <a:prstGeom prst="ellipse">
            <a:avLst/>
          </a:prstGeom>
          <a:solidFill>
            <a:srgbClr val="141E36"/>
          </a:solidFill>
          <a:ln w="12700">
            <a:solidFill>
              <a:srgbClr val="141E36"/>
            </a:solidFill>
            <a:prstDash val="solid"/>
          </a:ln>
        </p:spPr>
      </p:sp>
      <p:sp>
        <p:nvSpPr>
          <p:cNvPr id="22" name="Shape 20"/>
          <p:cNvSpPr/>
          <p:nvPr/>
        </p:nvSpPr>
        <p:spPr>
          <a:xfrm>
            <a:off x="2957606" y="4074385"/>
            <a:ext cx="40234" cy="40234"/>
          </a:xfrm>
          <a:prstGeom prst="ellipse">
            <a:avLst/>
          </a:prstGeom>
          <a:solidFill>
            <a:srgbClr val="141E36"/>
          </a:solidFill>
          <a:ln w="12700">
            <a:solidFill>
              <a:srgbClr val="141E36"/>
            </a:solidFill>
            <a:prstDash val="solid"/>
          </a:ln>
        </p:spPr>
      </p:sp>
      <p:sp>
        <p:nvSpPr>
          <p:cNvPr id="23" name="Shape 21"/>
          <p:cNvSpPr/>
          <p:nvPr/>
        </p:nvSpPr>
        <p:spPr>
          <a:xfrm>
            <a:off x="1505538" y="5957301"/>
            <a:ext cx="40234" cy="40234"/>
          </a:xfrm>
          <a:prstGeom prst="ellipse">
            <a:avLst/>
          </a:prstGeom>
          <a:solidFill>
            <a:srgbClr val="141E36"/>
          </a:solidFill>
          <a:ln w="12700">
            <a:solidFill>
              <a:srgbClr val="141E36"/>
            </a:solidFill>
            <a:prstDash val="solid"/>
          </a:ln>
        </p:spPr>
      </p:sp>
      <p:sp>
        <p:nvSpPr>
          <p:cNvPr id="24" name="Shape 22"/>
          <p:cNvSpPr/>
          <p:nvPr/>
        </p:nvSpPr>
        <p:spPr>
          <a:xfrm>
            <a:off x="3131045" y="747120"/>
            <a:ext cx="40234" cy="40234"/>
          </a:xfrm>
          <a:prstGeom prst="ellipse">
            <a:avLst/>
          </a:prstGeom>
          <a:solidFill>
            <a:srgbClr val="141E36"/>
          </a:solidFill>
          <a:ln w="12700">
            <a:solidFill>
              <a:srgbClr val="141E36"/>
            </a:solidFill>
            <a:prstDash val="solid"/>
          </a:ln>
        </p:spPr>
      </p:sp>
      <p:sp>
        <p:nvSpPr>
          <p:cNvPr id="25" name="Shape 23"/>
          <p:cNvSpPr/>
          <p:nvPr/>
        </p:nvSpPr>
        <p:spPr>
          <a:xfrm>
            <a:off x="2275686" y="1030246"/>
            <a:ext cx="40234" cy="40234"/>
          </a:xfrm>
          <a:prstGeom prst="ellipse">
            <a:avLst/>
          </a:prstGeom>
          <a:solidFill>
            <a:srgbClr val="141E36"/>
          </a:solidFill>
          <a:ln w="12700">
            <a:solidFill>
              <a:srgbClr val="141E36"/>
            </a:solidFill>
            <a:prstDash val="solid"/>
          </a:ln>
        </p:spPr>
      </p:sp>
      <p:sp>
        <p:nvSpPr>
          <p:cNvPr id="26" name="Text 24"/>
          <p:cNvSpPr/>
          <p:nvPr/>
        </p:nvSpPr>
        <p:spPr>
          <a:xfrm>
            <a:off x="594360" y="566928"/>
            <a:ext cx="8686800" cy="292608"/>
          </a:xfrm>
          <a:prstGeom prst="rect">
            <a:avLst/>
          </a:prstGeom>
          <a:noFill/>
          <a:ln/>
        </p:spPr>
        <p:txBody>
          <a:bodyPr wrap="square" rtlCol="0" anchor="ctr"/>
          <a:lstStyle/>
          <a:p>
            <a:pPr indent="0" marL="0">
              <a:buNone/>
            </a:pPr>
            <a:r>
              <a:rPr lang="en-US" sz="1250" b="1" spc="150" kern="0" dirty="0">
                <a:solidFill>
                  <a:srgbClr val="8592AD"/>
                </a:solidFill>
                <a:latin typeface="Calibri" pitchFamily="34" charset="0"/>
                <a:ea typeface="Calibri" pitchFamily="34" charset="-122"/>
                <a:cs typeface="Calibri" pitchFamily="34" charset="-120"/>
              </a:rPr>
              <a:t>CAID TECHNOLOGIES  ·  EMERGENCE CRAFT  ×  NEBIUS TOKEN FACTORY</a:t>
            </a:r>
            <a:endParaRPr lang="en-US" sz="1250" dirty="0"/>
          </a:p>
        </p:txBody>
      </p:sp>
      <p:sp>
        <p:nvSpPr>
          <p:cNvPr id="27" name="Text 25"/>
          <p:cNvSpPr/>
          <p:nvPr/>
        </p:nvSpPr>
        <p:spPr>
          <a:xfrm>
            <a:off x="566928" y="1051560"/>
            <a:ext cx="6766560" cy="1051560"/>
          </a:xfrm>
          <a:prstGeom prst="rect">
            <a:avLst/>
          </a:prstGeom>
          <a:noFill/>
          <a:ln/>
        </p:spPr>
        <p:txBody>
          <a:bodyPr wrap="square" rtlCol="0" anchor="ctr"/>
          <a:lstStyle/>
          <a:p>
            <a:pPr indent="0" marL="0">
              <a:buNone/>
            </a:pPr>
            <a:r>
              <a:rPr lang="en-US" sz="5800" b="1" dirty="0">
                <a:solidFill>
                  <a:srgbClr val="F1F5F9"/>
                </a:solidFill>
                <a:latin typeface="Calibri" pitchFamily="34" charset="0"/>
                <a:ea typeface="Calibri" pitchFamily="34" charset="-122"/>
                <a:cs typeface="Calibri" pitchFamily="34" charset="-120"/>
              </a:rPr>
              <a:t>EmergeGPT</a:t>
            </a:r>
            <a:endParaRPr lang="en-US" sz="5800" dirty="0"/>
          </a:p>
        </p:txBody>
      </p:sp>
      <p:sp>
        <p:nvSpPr>
          <p:cNvPr id="28" name="Text 26"/>
          <p:cNvSpPr/>
          <p:nvPr/>
        </p:nvSpPr>
        <p:spPr>
          <a:xfrm>
            <a:off x="594360" y="2212848"/>
            <a:ext cx="6492240" cy="777240"/>
          </a:xfrm>
          <a:prstGeom prst="rect">
            <a:avLst/>
          </a:prstGeom>
          <a:noFill/>
          <a:ln/>
        </p:spPr>
        <p:txBody>
          <a:bodyPr wrap="square" rtlCol="0" anchor="t"/>
          <a:lstStyle/>
          <a:p>
            <a:pPr indent="0" marL="0">
              <a:lnSpc>
                <a:spcPct val="115000"/>
              </a:lnSpc>
              <a:buNone/>
            </a:pPr>
            <a:r>
              <a:rPr lang="en-US" sz="1900" b="1" dirty="0">
                <a:solidFill>
                  <a:srgbClr val="22D3EE"/>
                </a:solidFill>
                <a:latin typeface="Calibri" pitchFamily="34" charset="0"/>
                <a:ea typeface="Calibri" pitchFamily="34" charset="-122"/>
                <a:cs typeface="Calibri" pitchFamily="34" charset="-120"/>
              </a:rPr>
              <a:t>Governed Agent Learning for Enterprise Teams</a:t>
            </a:r>
            <a:endParaRPr lang="en-US" sz="1900" dirty="0"/>
          </a:p>
        </p:txBody>
      </p:sp>
      <p:sp>
        <p:nvSpPr>
          <p:cNvPr id="29" name="Text 27"/>
          <p:cNvSpPr/>
          <p:nvPr/>
        </p:nvSpPr>
        <p:spPr>
          <a:xfrm>
            <a:off x="594360" y="3127248"/>
            <a:ext cx="6263640" cy="777240"/>
          </a:xfrm>
          <a:prstGeom prst="rect">
            <a:avLst/>
          </a:prstGeom>
          <a:noFill/>
          <a:ln/>
        </p:spPr>
        <p:txBody>
          <a:bodyPr wrap="square" rtlCol="0" anchor="t"/>
          <a:lstStyle/>
          <a:p>
            <a:pPr indent="0" marL="0">
              <a:lnSpc>
                <a:spcPct val="125000"/>
              </a:lnSpc>
              <a:buNone/>
            </a:pPr>
            <a:r>
              <a:rPr lang="en-US" sz="1300" i="1" dirty="0">
                <a:solidFill>
                  <a:srgbClr val="8592AD"/>
                </a:solidFill>
                <a:latin typeface="Calibri" pitchFamily="34" charset="0"/>
                <a:ea typeface="Calibri" pitchFamily="34" charset="-122"/>
                <a:cs typeface="Calibri" pitchFamily="34" charset="-120"/>
              </a:rPr>
              <a:t>Turn CRAFT catalog evidence into reviewed datasets, managed LoRA runs, and auditable decisions.</a:t>
            </a:r>
            <a:endParaRPr lang="en-US" sz="1300" dirty="0"/>
          </a:p>
        </p:txBody>
      </p:sp>
      <p:sp>
        <p:nvSpPr>
          <p:cNvPr id="30" name="Text 28"/>
          <p:cNvSpPr/>
          <p:nvPr/>
        </p:nvSpPr>
        <p:spPr>
          <a:xfrm>
            <a:off x="594360" y="5504688"/>
            <a:ext cx="2743200" cy="219456"/>
          </a:xfrm>
          <a:prstGeom prst="rect">
            <a:avLst/>
          </a:prstGeom>
          <a:noFill/>
          <a:ln/>
        </p:spPr>
        <p:txBody>
          <a:bodyPr wrap="square" rtlCol="0" anchor="ctr"/>
          <a:lstStyle/>
          <a:p>
            <a:pPr indent="0" marL="0">
              <a:buNone/>
            </a:pPr>
            <a:r>
              <a:rPr lang="en-US" sz="1000" b="1" spc="150" kern="0" dirty="0">
                <a:solidFill>
                  <a:srgbClr val="4B5878"/>
                </a:solidFill>
                <a:latin typeface="Calibri" pitchFamily="34" charset="0"/>
                <a:ea typeface="Calibri" pitchFamily="34" charset="-122"/>
                <a:cs typeface="Calibri" pitchFamily="34" charset="-120"/>
              </a:rPr>
              <a:t>PRESENTED BY</a:t>
            </a:r>
            <a:endParaRPr lang="en-US" sz="1000" dirty="0"/>
          </a:p>
        </p:txBody>
      </p:sp>
      <p:sp>
        <p:nvSpPr>
          <p:cNvPr id="31" name="Shape 29"/>
          <p:cNvSpPr/>
          <p:nvPr/>
        </p:nvSpPr>
        <p:spPr>
          <a:xfrm>
            <a:off x="594360" y="5760720"/>
            <a:ext cx="2331720" cy="402336"/>
          </a:xfrm>
          <a:prstGeom prst="roundRect">
            <a:avLst>
              <a:gd name="adj" fmla="val 18182"/>
            </a:avLst>
          </a:prstGeom>
          <a:ln w="12700">
            <a:solidFill>
              <a:srgbClr val="A78BFA"/>
            </a:solidFill>
            <a:prstDash val="dash"/>
          </a:ln>
        </p:spPr>
      </p:sp>
      <p:sp>
        <p:nvSpPr>
          <p:cNvPr id="32" name="Text 30"/>
          <p:cNvSpPr/>
          <p:nvPr/>
        </p:nvSpPr>
        <p:spPr>
          <a:xfrm>
            <a:off x="649224" y="5760720"/>
            <a:ext cx="2221992" cy="402336"/>
          </a:xfrm>
          <a:prstGeom prst="rect">
            <a:avLst/>
          </a:prstGeom>
          <a:noFill/>
          <a:ln/>
        </p:spPr>
        <p:txBody>
          <a:bodyPr wrap="square" rtlCol="0" anchor="ctr"/>
          <a:lstStyle/>
          <a:p>
            <a:pPr algn="ctr" indent="0" marL="0">
              <a:buNone/>
            </a:pPr>
            <a:r>
              <a:rPr lang="en-US" sz="1200" b="1" dirty="0">
                <a:solidFill>
                  <a:srgbClr val="A78BFA"/>
                </a:solidFill>
                <a:latin typeface="Courier New" pitchFamily="34" charset="0"/>
                <a:ea typeface="Courier New" pitchFamily="34" charset="-122"/>
                <a:cs typeface="Courier New" pitchFamily="34" charset="-120"/>
              </a:rPr>
              <a:t>[ADD NAMES]</a:t>
            </a:r>
            <a:endParaRPr lang="en-US" sz="1200" dirty="0"/>
          </a:p>
        </p:txBody>
      </p:sp>
      <p:sp>
        <p:nvSpPr>
          <p:cNvPr id="33" name="Text 31"/>
          <p:cNvSpPr/>
          <p:nvPr/>
        </p:nvSpPr>
        <p:spPr>
          <a:xfrm>
            <a:off x="7452360" y="1417320"/>
            <a:ext cx="4023360" cy="256032"/>
          </a:xfrm>
          <a:prstGeom prst="rect">
            <a:avLst/>
          </a:prstGeom>
          <a:noFill/>
          <a:ln/>
        </p:spPr>
        <p:txBody>
          <a:bodyPr wrap="square" rtlCol="0" anchor="ctr"/>
          <a:lstStyle/>
          <a:p>
            <a:pPr algn="ctr" indent="0" marL="0">
              <a:buNone/>
            </a:pPr>
            <a:r>
              <a:rPr lang="en-US" sz="1050" b="1" spc="200" kern="0" dirty="0">
                <a:solidFill>
                  <a:srgbClr val="4B5878"/>
                </a:solidFill>
                <a:latin typeface="Calibri" pitchFamily="34" charset="0"/>
                <a:ea typeface="Calibri" pitchFamily="34" charset="-122"/>
                <a:cs typeface="Calibri" pitchFamily="34" charset="-120"/>
              </a:rPr>
              <a:t>THE CORE LOOP</a:t>
            </a:r>
            <a:endParaRPr lang="en-US" sz="1050" dirty="0"/>
          </a:p>
        </p:txBody>
      </p:sp>
      <p:sp>
        <p:nvSpPr>
          <p:cNvPr id="34" name="Shape 32"/>
          <p:cNvSpPr/>
          <p:nvPr/>
        </p:nvSpPr>
        <p:spPr>
          <a:xfrm>
            <a:off x="8705088" y="2331720"/>
            <a:ext cx="1700784" cy="0"/>
          </a:xfrm>
          <a:prstGeom prst="line">
            <a:avLst/>
          </a:prstGeom>
          <a:noFill/>
          <a:ln w="17780">
            <a:solidFill>
              <a:srgbClr val="22D3EE"/>
            </a:solidFill>
            <a:prstDash val="solid"/>
            <a:tailEnd type="triangle"/>
          </a:ln>
        </p:spPr>
      </p:sp>
      <p:sp>
        <p:nvSpPr>
          <p:cNvPr id="35" name="Shape 33"/>
          <p:cNvSpPr/>
          <p:nvPr/>
        </p:nvSpPr>
        <p:spPr>
          <a:xfrm>
            <a:off x="10744200" y="2670048"/>
            <a:ext cx="0" cy="1975104"/>
          </a:xfrm>
          <a:prstGeom prst="line">
            <a:avLst/>
          </a:prstGeom>
          <a:noFill/>
          <a:ln w="17780">
            <a:solidFill>
              <a:srgbClr val="22D3EE"/>
            </a:solidFill>
            <a:prstDash val="solid"/>
            <a:tailEnd type="triangle"/>
          </a:ln>
        </p:spPr>
      </p:sp>
      <p:sp>
        <p:nvSpPr>
          <p:cNvPr id="36" name="Shape 34"/>
          <p:cNvSpPr/>
          <p:nvPr/>
        </p:nvSpPr>
        <p:spPr>
          <a:xfrm>
            <a:off x="8705088" y="4983480"/>
            <a:ext cx="1700784" cy="0"/>
          </a:xfrm>
          <a:prstGeom prst="line">
            <a:avLst/>
          </a:prstGeom>
          <a:noFill/>
          <a:ln w="17780">
            <a:solidFill>
              <a:srgbClr val="22D3EE"/>
            </a:solidFill>
            <a:prstDash val="solid"/>
            <a:headEnd type="triangle"/>
          </a:ln>
        </p:spPr>
      </p:sp>
      <p:sp>
        <p:nvSpPr>
          <p:cNvPr id="37" name="Shape 35"/>
          <p:cNvSpPr/>
          <p:nvPr/>
        </p:nvSpPr>
        <p:spPr>
          <a:xfrm>
            <a:off x="8366760" y="2670048"/>
            <a:ext cx="0" cy="1975104"/>
          </a:xfrm>
          <a:prstGeom prst="line">
            <a:avLst/>
          </a:prstGeom>
          <a:noFill/>
          <a:ln w="17780">
            <a:solidFill>
              <a:srgbClr val="22D3EE"/>
            </a:solidFill>
            <a:prstDash val="solid"/>
            <a:headEnd type="triangle"/>
          </a:ln>
        </p:spPr>
      </p:sp>
      <p:sp>
        <p:nvSpPr>
          <p:cNvPr id="38" name="Shape 36"/>
          <p:cNvSpPr/>
          <p:nvPr/>
        </p:nvSpPr>
        <p:spPr>
          <a:xfrm>
            <a:off x="8083296" y="2048256"/>
            <a:ext cx="566928" cy="566928"/>
          </a:xfrm>
          <a:prstGeom prst="ellipse">
            <a:avLst/>
          </a:prstGeom>
          <a:solidFill>
            <a:srgbClr val="1C2947"/>
          </a:solidFill>
          <a:ln w="9525">
            <a:solidFill>
              <a:srgbClr val="22D3EE"/>
            </a:solidFill>
            <a:prstDash val="solid"/>
          </a:ln>
        </p:spPr>
      </p:sp>
      <p:pic>
        <p:nvPicPr>
          <p:cNvPr id="39" name="Image 0" descr="/home/claude/emergegpt/assets/icons/cpu_cyan.png">    </p:cNvPr>
          <p:cNvPicPr>
            <a:picLocks noChangeAspect="1"/>
          </p:cNvPicPr>
          <p:nvPr/>
        </p:nvPicPr>
        <p:blipFill>
          <a:blip r:embed="rId1"/>
          <a:stretch>
            <a:fillRect/>
          </a:stretch>
        </p:blipFill>
        <p:spPr>
          <a:xfrm>
            <a:off x="8219359" y="2184319"/>
            <a:ext cx="294803" cy="294803"/>
          </a:xfrm>
          <a:prstGeom prst="rect">
            <a:avLst/>
          </a:prstGeom>
        </p:spPr>
      </p:pic>
      <p:sp>
        <p:nvSpPr>
          <p:cNvPr id="40" name="Shape 37"/>
          <p:cNvSpPr/>
          <p:nvPr/>
        </p:nvSpPr>
        <p:spPr>
          <a:xfrm>
            <a:off x="10460736" y="2048256"/>
            <a:ext cx="566928" cy="566928"/>
          </a:xfrm>
          <a:prstGeom prst="ellipse">
            <a:avLst/>
          </a:prstGeom>
          <a:solidFill>
            <a:srgbClr val="1C2947"/>
          </a:solidFill>
          <a:ln w="9525">
            <a:solidFill>
              <a:srgbClr val="22D3EE"/>
            </a:solidFill>
            <a:prstDash val="solid"/>
          </a:ln>
        </p:spPr>
      </p:sp>
      <p:pic>
        <p:nvPicPr>
          <p:cNvPr id="41" name="Image 1" descr="/home/claude/emergegpt/assets/icons/activity_cyan.png">    </p:cNvPr>
          <p:cNvPicPr>
            <a:picLocks noChangeAspect="1"/>
          </p:cNvPicPr>
          <p:nvPr/>
        </p:nvPicPr>
        <p:blipFill>
          <a:blip r:embed="rId2"/>
          <a:stretch>
            <a:fillRect/>
          </a:stretch>
        </p:blipFill>
        <p:spPr>
          <a:xfrm>
            <a:off x="10596799" y="2184319"/>
            <a:ext cx="294803" cy="294803"/>
          </a:xfrm>
          <a:prstGeom prst="rect">
            <a:avLst/>
          </a:prstGeom>
        </p:spPr>
      </p:pic>
      <p:sp>
        <p:nvSpPr>
          <p:cNvPr id="42" name="Shape 38"/>
          <p:cNvSpPr/>
          <p:nvPr/>
        </p:nvSpPr>
        <p:spPr>
          <a:xfrm>
            <a:off x="10460736" y="4700016"/>
            <a:ext cx="566928" cy="566928"/>
          </a:xfrm>
          <a:prstGeom prst="ellipse">
            <a:avLst/>
          </a:prstGeom>
          <a:solidFill>
            <a:srgbClr val="1C2947"/>
          </a:solidFill>
          <a:ln w="9525">
            <a:solidFill>
              <a:srgbClr val="22D3EE"/>
            </a:solidFill>
            <a:prstDash val="solid"/>
          </a:ln>
        </p:spPr>
      </p:sp>
      <p:pic>
        <p:nvPicPr>
          <p:cNvPr id="43" name="Image 2" descr="/home/claude/emergegpt/assets/icons/layers_cyan.png">    </p:cNvPr>
          <p:cNvPicPr>
            <a:picLocks noChangeAspect="1"/>
          </p:cNvPicPr>
          <p:nvPr/>
        </p:nvPicPr>
        <p:blipFill>
          <a:blip r:embed="rId3"/>
          <a:stretch>
            <a:fillRect/>
          </a:stretch>
        </p:blipFill>
        <p:spPr>
          <a:xfrm>
            <a:off x="10596799" y="4836079"/>
            <a:ext cx="294803" cy="294803"/>
          </a:xfrm>
          <a:prstGeom prst="rect">
            <a:avLst/>
          </a:prstGeom>
        </p:spPr>
      </p:pic>
      <p:sp>
        <p:nvSpPr>
          <p:cNvPr id="44" name="Shape 39"/>
          <p:cNvSpPr/>
          <p:nvPr/>
        </p:nvSpPr>
        <p:spPr>
          <a:xfrm>
            <a:off x="8083296" y="4700016"/>
            <a:ext cx="566928" cy="566928"/>
          </a:xfrm>
          <a:prstGeom prst="ellipse">
            <a:avLst/>
          </a:prstGeom>
          <a:solidFill>
            <a:srgbClr val="1C2947"/>
          </a:solidFill>
          <a:ln w="9525">
            <a:solidFill>
              <a:srgbClr val="22D3EE"/>
            </a:solidFill>
            <a:prstDash val="solid"/>
          </a:ln>
        </p:spPr>
      </p:sp>
      <p:pic>
        <p:nvPicPr>
          <p:cNvPr id="45" name="Image 3" descr="/home/claude/emergegpt/assets/icons/zap_cyan.png">    </p:cNvPr>
          <p:cNvPicPr>
            <a:picLocks noChangeAspect="1"/>
          </p:cNvPicPr>
          <p:nvPr/>
        </p:nvPicPr>
        <p:blipFill>
          <a:blip r:embed="rId4"/>
          <a:stretch>
            <a:fillRect/>
          </a:stretch>
        </p:blipFill>
        <p:spPr>
          <a:xfrm>
            <a:off x="8219359" y="4836079"/>
            <a:ext cx="294803" cy="294803"/>
          </a:xfrm>
          <a:prstGeom prst="rect">
            <a:avLst/>
          </a:prstGeom>
        </p:spPr>
      </p:pic>
      <p:sp>
        <p:nvSpPr>
          <p:cNvPr id="46" name="Text 40"/>
          <p:cNvSpPr/>
          <p:nvPr/>
        </p:nvSpPr>
        <p:spPr>
          <a:xfrm>
            <a:off x="7680960" y="2706624"/>
            <a:ext cx="1371600" cy="256032"/>
          </a:xfrm>
          <a:prstGeom prst="rect">
            <a:avLst/>
          </a:prstGeom>
          <a:noFill/>
          <a:ln/>
        </p:spPr>
        <p:txBody>
          <a:bodyPr wrap="square"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Catalog</a:t>
            </a:r>
            <a:endParaRPr lang="en-US" sz="1200" dirty="0"/>
          </a:p>
        </p:txBody>
      </p:sp>
      <p:sp>
        <p:nvSpPr>
          <p:cNvPr id="47" name="Text 41"/>
          <p:cNvSpPr/>
          <p:nvPr/>
        </p:nvSpPr>
        <p:spPr>
          <a:xfrm>
            <a:off x="10058400" y="2706624"/>
            <a:ext cx="1371600" cy="256032"/>
          </a:xfrm>
          <a:prstGeom prst="rect">
            <a:avLst/>
          </a:prstGeom>
          <a:noFill/>
          <a:ln/>
        </p:spPr>
        <p:txBody>
          <a:bodyPr wrap="square"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Review</a:t>
            </a:r>
            <a:endParaRPr lang="en-US" sz="1200" dirty="0"/>
          </a:p>
        </p:txBody>
      </p:sp>
      <p:sp>
        <p:nvSpPr>
          <p:cNvPr id="48" name="Text 42"/>
          <p:cNvSpPr/>
          <p:nvPr/>
        </p:nvSpPr>
        <p:spPr>
          <a:xfrm>
            <a:off x="10058400" y="5358384"/>
            <a:ext cx="1371600" cy="256032"/>
          </a:xfrm>
          <a:prstGeom prst="rect">
            <a:avLst/>
          </a:prstGeom>
          <a:noFill/>
          <a:ln/>
        </p:spPr>
        <p:txBody>
          <a:bodyPr wrap="square"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LoRA</a:t>
            </a:r>
            <a:endParaRPr lang="en-US" sz="1200" dirty="0"/>
          </a:p>
        </p:txBody>
      </p:sp>
      <p:sp>
        <p:nvSpPr>
          <p:cNvPr id="49" name="Text 43"/>
          <p:cNvSpPr/>
          <p:nvPr/>
        </p:nvSpPr>
        <p:spPr>
          <a:xfrm>
            <a:off x="7680960" y="5358384"/>
            <a:ext cx="1371600" cy="256032"/>
          </a:xfrm>
          <a:prstGeom prst="rect">
            <a:avLst/>
          </a:prstGeom>
          <a:noFill/>
          <a:ln/>
        </p:spPr>
        <p:txBody>
          <a:bodyPr wrap="square" rtlCol="0" anchor="ctr"/>
          <a:lstStyle/>
          <a:p>
            <a:pPr algn="ctr" indent="0" marL="0">
              <a:buNone/>
            </a:pPr>
            <a:r>
              <a:rPr lang="en-US" sz="1200" b="1" dirty="0">
                <a:solidFill>
                  <a:srgbClr val="F1F5F9"/>
                </a:solidFill>
                <a:latin typeface="Calibri" pitchFamily="34" charset="0"/>
                <a:ea typeface="Calibri" pitchFamily="34" charset="-122"/>
                <a:cs typeface="Calibri" pitchFamily="34" charset="-120"/>
              </a:rPr>
              <a:t>Govern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502920" y="365760"/>
            <a:ext cx="8229600" cy="256032"/>
          </a:xfrm>
          <a:prstGeom prst="rect">
            <a:avLst/>
          </a:prstGeom>
          <a:noFill/>
          <a:ln/>
        </p:spPr>
        <p:txBody>
          <a:bodyPr wrap="square"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01 · THE PROBLEM</a:t>
            </a:r>
            <a:endParaRPr lang="en-US" sz="1150" dirty="0"/>
          </a:p>
        </p:txBody>
      </p:sp>
      <p:sp>
        <p:nvSpPr>
          <p:cNvPr id="3" name="Text 1"/>
          <p:cNvSpPr/>
          <p:nvPr/>
        </p:nvSpPr>
        <p:spPr>
          <a:xfrm>
            <a:off x="484632" y="658368"/>
            <a:ext cx="10607040" cy="1234440"/>
          </a:xfrm>
          <a:prstGeom prst="rect">
            <a:avLst/>
          </a:prstGeom>
          <a:noFill/>
          <a:ln/>
        </p:spPr>
        <p:txBody>
          <a:bodyPr wrap="square" rtlCol="0" anchor="t"/>
          <a:lstStyle/>
          <a:p>
            <a:pPr algn="l" indent="0" marL="0">
              <a:lnSpc>
                <a:spcPct val="105000"/>
              </a:lnSpc>
              <a:buNone/>
            </a:pPr>
            <a:r>
              <a:rPr lang="en-US" sz="2900" b="1" dirty="0">
                <a:solidFill>
                  <a:srgbClr val="F1F5F9"/>
                </a:solidFill>
                <a:latin typeface="Calibri" pitchFamily="34" charset="0"/>
                <a:ea typeface="Calibri" pitchFamily="34" charset="-122"/>
                <a:cs typeface="Calibri" pitchFamily="34" charset="-120"/>
              </a:rPr>
              <a:t>Enterprise AI Learns—</a:t>
            </a:r>
            <a:endParaRPr lang="en-US" sz="2900" dirty="0"/>
          </a:p>
          <a:p>
            <a:pPr algn="l" indent="0" marL="0">
              <a:lnSpc>
                <a:spcPct val="105000"/>
              </a:lnSpc>
              <a:buNone/>
            </a:pPr>
            <a:r>
              <a:rPr lang="en-US" sz="2900" b="1" dirty="0">
                <a:solidFill>
                  <a:srgbClr val="F1F5F9"/>
                </a:solidFill>
                <a:latin typeface="Calibri" pitchFamily="34" charset="0"/>
                <a:ea typeface="Calibri" pitchFamily="34" charset="-122"/>
                <a:cs typeface="Calibri" pitchFamily="34" charset="-120"/>
              </a:rPr>
              <a:t>Without a Control Plane</a:t>
            </a:r>
            <a:endParaRPr lang="en-US" sz="2900" dirty="0"/>
          </a:p>
        </p:txBody>
      </p:sp>
      <p:sp>
        <p:nvSpPr>
          <p:cNvPr id="4" name="Text 2"/>
          <p:cNvSpPr/>
          <p:nvPr/>
        </p:nvSpPr>
        <p:spPr>
          <a:xfrm>
            <a:off x="502920" y="2148840"/>
            <a:ext cx="6309360" cy="3291840"/>
          </a:xfrm>
          <a:prstGeom prst="rect">
            <a:avLst/>
          </a:prstGeom>
          <a:noFill/>
          <a:ln/>
        </p:spPr>
        <p:txBody>
          <a:bodyPr wrap="square" rtlCol="0" anchor="t"/>
          <a:lstStyle/>
          <a:p>
            <a:pPr algn="l" marL="177800" indent="-177800">
              <a:lnSpc>
                <a:spcPct val="108000"/>
              </a:lnSpc>
              <a:spcAft>
                <a:spcPts val="1400"/>
              </a:spcAft>
              <a:buSzPct val="100000"/>
              <a:buChar char="▪"/>
            </a:pPr>
            <a:r>
              <a:rPr lang="en-US" sz="1450" dirty="0">
                <a:solidFill>
                  <a:srgbClr val="F1F5F9"/>
                </a:solidFill>
                <a:latin typeface="Calibri" pitchFamily="34" charset="0"/>
                <a:ea typeface="Calibri" pitchFamily="34" charset="-122"/>
                <a:cs typeface="Calibri" pitchFamily="34" charset="-120"/>
              </a:rPr>
              <a:t>Agents repeat high-value work across teams and data domains.</a:t>
            </a:r>
            <a:endParaRPr lang="en-US" sz="1450" dirty="0"/>
          </a:p>
          <a:p>
            <a:pPr algn="l" marL="177800" indent="-177800">
              <a:lnSpc>
                <a:spcPct val="108000"/>
              </a:lnSpc>
              <a:spcAft>
                <a:spcPts val="1400"/>
              </a:spcAft>
              <a:buSzPct val="100000"/>
              <a:buChar char="▪"/>
            </a:pPr>
            <a:r>
              <a:rPr lang="en-US" sz="1450" dirty="0">
                <a:solidFill>
                  <a:srgbClr val="F1F5F9"/>
                </a:solidFill>
                <a:latin typeface="Calibri" pitchFamily="34" charset="0"/>
                <a:ea typeface="Calibri" pitchFamily="34" charset="-122"/>
                <a:cs typeface="Calibri" pitchFamily="34" charset="-120"/>
              </a:rPr>
              <a:t>Evidence, approvals, datasets, and model runs become fragmented.</a:t>
            </a:r>
            <a:endParaRPr lang="en-US" sz="1450" dirty="0"/>
          </a:p>
          <a:p>
            <a:pPr algn="l" marL="177800" indent="-177800">
              <a:lnSpc>
                <a:spcPct val="108000"/>
              </a:lnSpc>
              <a:spcAft>
                <a:spcPts val="1400"/>
              </a:spcAft>
              <a:buSzPct val="100000"/>
              <a:buChar char="▪"/>
            </a:pPr>
            <a:r>
              <a:rPr lang="en-US" sz="1450" dirty="0">
                <a:solidFill>
                  <a:srgbClr val="F1F5F9"/>
                </a:solidFill>
                <a:latin typeface="Calibri" pitchFamily="34" charset="0"/>
                <a:ea typeface="Calibri" pitchFamily="34" charset="-122"/>
                <a:cs typeface="Calibri" pitchFamily="34" charset="-120"/>
              </a:rPr>
              <a:t>Leaders cannot easily reproduce, compare, or audit model changes.</a:t>
            </a:r>
            <a:endParaRPr lang="en-US" sz="1450" dirty="0"/>
          </a:p>
          <a:p>
            <a:pPr algn="l" marL="177800" indent="-177800">
              <a:lnSpc>
                <a:spcPct val="108000"/>
              </a:lnSpc>
              <a:spcAft>
                <a:spcPts val="1400"/>
              </a:spcAft>
              <a:buSzPct val="100000"/>
              <a:buChar char="▪"/>
            </a:pPr>
            <a:r>
              <a:rPr lang="en-US" sz="1450" dirty="0">
                <a:solidFill>
                  <a:srgbClr val="F1F5F9"/>
                </a:solidFill>
                <a:latin typeface="Calibri" pitchFamily="34" charset="0"/>
                <a:ea typeface="Calibri" pitchFamily="34" charset="-122"/>
                <a:cs typeface="Calibri" pitchFamily="34" charset="-120"/>
              </a:rPr>
              <a:t>General models may add avoidable cost, latency, and inconsistency.</a:t>
            </a:r>
            <a:endParaRPr lang="en-US" sz="1450" dirty="0"/>
          </a:p>
          <a:p>
            <a:pPr algn="l" marL="177800" indent="-177800">
              <a:lnSpc>
                <a:spcPct val="108000"/>
              </a:lnSpc>
              <a:spcAft>
                <a:spcPts val="1400"/>
              </a:spcAft>
              <a:buSzPct val="100000"/>
              <a:buChar char="▪"/>
            </a:pPr>
            <a:r>
              <a:rPr lang="en-US" sz="1450" dirty="0">
                <a:solidFill>
                  <a:srgbClr val="F1F5F9"/>
                </a:solidFill>
                <a:latin typeface="Calibri" pitchFamily="34" charset="0"/>
                <a:ea typeface="Calibri" pitchFamily="34" charset="-122"/>
                <a:cs typeface="Calibri" pitchFamily="34" charset="-120"/>
              </a:rPr>
              <a:t>The missing layer is a governed path from enterprise evidence to improvement.</a:t>
            </a:r>
            <a:endParaRPr lang="en-US" sz="1450" dirty="0"/>
          </a:p>
        </p:txBody>
      </p:sp>
      <p:sp>
        <p:nvSpPr>
          <p:cNvPr id="5" name="Shape 3"/>
          <p:cNvSpPr/>
          <p:nvPr/>
        </p:nvSpPr>
        <p:spPr>
          <a:xfrm>
            <a:off x="9235440" y="1783080"/>
            <a:ext cx="457200" cy="457200"/>
          </a:xfrm>
          <a:prstGeom prst="ellipse">
            <a:avLst/>
          </a:prstGeom>
          <a:solidFill>
            <a:srgbClr val="17223C"/>
          </a:solidFill>
          <a:ln w="9525">
            <a:solidFill>
              <a:srgbClr val="8592AD"/>
            </a:solidFill>
            <a:prstDash val="solid"/>
          </a:ln>
        </p:spPr>
      </p:sp>
      <p:pic>
        <p:nvPicPr>
          <p:cNvPr id="6" name="Image 0" descr="/home/claude/emergegpt/assets/icons/send_muted.png">    </p:cNvPr>
          <p:cNvPicPr>
            <a:picLocks noChangeAspect="1"/>
          </p:cNvPicPr>
          <p:nvPr/>
        </p:nvPicPr>
        <p:blipFill>
          <a:blip r:embed="rId1"/>
          <a:stretch>
            <a:fillRect/>
          </a:stretch>
        </p:blipFill>
        <p:spPr>
          <a:xfrm>
            <a:off x="9345168" y="1892808"/>
            <a:ext cx="237744" cy="237744"/>
          </a:xfrm>
          <a:prstGeom prst="rect">
            <a:avLst/>
          </a:prstGeom>
        </p:spPr>
      </p:pic>
      <p:sp>
        <p:nvSpPr>
          <p:cNvPr id="7" name="Shape 4"/>
          <p:cNvSpPr/>
          <p:nvPr/>
        </p:nvSpPr>
        <p:spPr>
          <a:xfrm>
            <a:off x="9235440" y="2743200"/>
            <a:ext cx="457200" cy="457200"/>
          </a:xfrm>
          <a:prstGeom prst="ellipse">
            <a:avLst/>
          </a:prstGeom>
          <a:solidFill>
            <a:srgbClr val="17223C"/>
          </a:solidFill>
          <a:ln w="9525">
            <a:solidFill>
              <a:srgbClr val="8592AD"/>
            </a:solidFill>
            <a:prstDash val="solid"/>
          </a:ln>
        </p:spPr>
      </p:sp>
      <p:pic>
        <p:nvPicPr>
          <p:cNvPr id="8" name="Image 1" descr="/home/claude/emergegpt/assets/icons/send_muted.png">    </p:cNvPr>
          <p:cNvPicPr>
            <a:picLocks noChangeAspect="1"/>
          </p:cNvPicPr>
          <p:nvPr/>
        </p:nvPicPr>
        <p:blipFill>
          <a:blip r:embed="rId2"/>
          <a:stretch>
            <a:fillRect/>
          </a:stretch>
        </p:blipFill>
        <p:spPr>
          <a:xfrm>
            <a:off x="9345168" y="2852928"/>
            <a:ext cx="237744" cy="237744"/>
          </a:xfrm>
          <a:prstGeom prst="rect">
            <a:avLst/>
          </a:prstGeom>
        </p:spPr>
      </p:pic>
      <p:sp>
        <p:nvSpPr>
          <p:cNvPr id="9" name="Shape 5"/>
          <p:cNvSpPr/>
          <p:nvPr/>
        </p:nvSpPr>
        <p:spPr>
          <a:xfrm>
            <a:off x="9235440" y="3703320"/>
            <a:ext cx="457200" cy="457200"/>
          </a:xfrm>
          <a:prstGeom prst="ellipse">
            <a:avLst/>
          </a:prstGeom>
          <a:solidFill>
            <a:srgbClr val="17223C"/>
          </a:solidFill>
          <a:ln w="9525">
            <a:solidFill>
              <a:srgbClr val="8592AD"/>
            </a:solidFill>
            <a:prstDash val="solid"/>
          </a:ln>
        </p:spPr>
      </p:sp>
      <p:pic>
        <p:nvPicPr>
          <p:cNvPr id="10" name="Image 2" descr="/home/claude/emergegpt/assets/icons/send_muted.png">    </p:cNvPr>
          <p:cNvPicPr>
            <a:picLocks noChangeAspect="1"/>
          </p:cNvPicPr>
          <p:nvPr/>
        </p:nvPicPr>
        <p:blipFill>
          <a:blip r:embed="rId3"/>
          <a:stretch>
            <a:fillRect/>
          </a:stretch>
        </p:blipFill>
        <p:spPr>
          <a:xfrm>
            <a:off x="9345168" y="3813048"/>
            <a:ext cx="237744" cy="237744"/>
          </a:xfrm>
          <a:prstGeom prst="rect">
            <a:avLst/>
          </a:prstGeom>
        </p:spPr>
      </p:pic>
      <p:sp>
        <p:nvSpPr>
          <p:cNvPr id="11" name="Shape 6"/>
          <p:cNvSpPr/>
          <p:nvPr/>
        </p:nvSpPr>
        <p:spPr>
          <a:xfrm>
            <a:off x="9464040" y="2258568"/>
            <a:ext cx="0" cy="466344"/>
          </a:xfrm>
          <a:prstGeom prst="line">
            <a:avLst/>
          </a:prstGeom>
          <a:noFill/>
          <a:ln w="12700">
            <a:solidFill>
              <a:srgbClr val="4B5878"/>
            </a:solidFill>
            <a:prstDash val="solid"/>
          </a:ln>
        </p:spPr>
      </p:sp>
      <p:sp>
        <p:nvSpPr>
          <p:cNvPr id="12" name="Shape 7"/>
          <p:cNvSpPr/>
          <p:nvPr/>
        </p:nvSpPr>
        <p:spPr>
          <a:xfrm>
            <a:off x="9464040" y="3218688"/>
            <a:ext cx="0" cy="466344"/>
          </a:xfrm>
          <a:prstGeom prst="line">
            <a:avLst/>
          </a:prstGeom>
          <a:noFill/>
          <a:ln w="12700">
            <a:solidFill>
              <a:srgbClr val="4B5878"/>
            </a:solidFill>
            <a:prstDash val="solid"/>
          </a:ln>
        </p:spPr>
      </p:sp>
      <p:sp>
        <p:nvSpPr>
          <p:cNvPr id="13" name="Shape 8"/>
          <p:cNvSpPr/>
          <p:nvPr/>
        </p:nvSpPr>
        <p:spPr>
          <a:xfrm>
            <a:off x="9464040" y="4178808"/>
            <a:ext cx="0" cy="438912"/>
          </a:xfrm>
          <a:prstGeom prst="line">
            <a:avLst/>
          </a:prstGeom>
          <a:noFill/>
          <a:ln w="12700">
            <a:solidFill>
              <a:srgbClr val="4B5878"/>
            </a:solidFill>
            <a:prstDash val="solid"/>
            <a:tailEnd type="triangle"/>
          </a:ln>
        </p:spPr>
      </p:sp>
      <p:sp>
        <p:nvSpPr>
          <p:cNvPr id="14" name="Shape 9"/>
          <p:cNvSpPr/>
          <p:nvPr/>
        </p:nvSpPr>
        <p:spPr>
          <a:xfrm>
            <a:off x="9052560" y="4663440"/>
            <a:ext cx="822960" cy="822960"/>
          </a:xfrm>
          <a:prstGeom prst="ellipse">
            <a:avLst/>
          </a:prstGeom>
          <a:solidFill>
            <a:srgbClr val="17223C"/>
          </a:solidFill>
          <a:ln w="9525">
            <a:solidFill>
              <a:srgbClr val="8592AD"/>
            </a:solidFill>
            <a:prstDash val="solid"/>
          </a:ln>
        </p:spPr>
      </p:sp>
      <p:pic>
        <p:nvPicPr>
          <p:cNvPr id="15" name="Image 3" descr="/home/claude/emergegpt/assets/icons/hardDrive_muted.png">    </p:cNvPr>
          <p:cNvPicPr>
            <a:picLocks noChangeAspect="1"/>
          </p:cNvPicPr>
          <p:nvPr/>
        </p:nvPicPr>
        <p:blipFill>
          <a:blip r:embed="rId4"/>
          <a:stretch>
            <a:fillRect/>
          </a:stretch>
        </p:blipFill>
        <p:spPr>
          <a:xfrm>
            <a:off x="9250070" y="4860950"/>
            <a:ext cx="427939" cy="427939"/>
          </a:xfrm>
          <a:prstGeom prst="rect">
            <a:avLst/>
          </a:prstGeom>
        </p:spPr>
      </p:pic>
      <p:sp>
        <p:nvSpPr>
          <p:cNvPr id="16" name="Text 10"/>
          <p:cNvSpPr/>
          <p:nvPr/>
        </p:nvSpPr>
        <p:spPr>
          <a:xfrm>
            <a:off x="8458200" y="5532120"/>
            <a:ext cx="2011680" cy="274320"/>
          </a:xfrm>
          <a:prstGeom prst="rect">
            <a:avLst/>
          </a:prstGeom>
          <a:noFill/>
          <a:ln/>
        </p:spPr>
        <p:txBody>
          <a:bodyPr wrap="square" rtlCol="0" anchor="ctr"/>
          <a:lstStyle/>
          <a:p>
            <a:pPr algn="ctr" indent="0" marL="0">
              <a:buNone/>
            </a:pPr>
            <a:r>
              <a:rPr lang="en-US" sz="1150" i="1" dirty="0">
                <a:solidFill>
                  <a:srgbClr val="8592AD"/>
                </a:solidFill>
                <a:latin typeface="Calibri" pitchFamily="34" charset="0"/>
                <a:ea typeface="Calibri" pitchFamily="34" charset="-122"/>
                <a:cs typeface="Calibri" pitchFamily="34" charset="-120"/>
              </a:rPr>
              <a:t>ungoverned learning</a:t>
            </a:r>
            <a:endParaRPr lang="en-US" sz="1150" dirty="0"/>
          </a:p>
        </p:txBody>
      </p:sp>
      <p:sp>
        <p:nvSpPr>
          <p:cNvPr id="17" name="Shape 11"/>
          <p:cNvSpPr/>
          <p:nvPr/>
        </p:nvSpPr>
        <p:spPr>
          <a:xfrm>
            <a:off x="502920" y="5870448"/>
            <a:ext cx="11183112" cy="658368"/>
          </a:xfrm>
          <a:prstGeom prst="roundRect">
            <a:avLst>
              <a:gd name="adj" fmla="val 13889"/>
            </a:avLst>
          </a:prstGeom>
          <a:solidFill>
            <a:srgbClr val="121B2E"/>
          </a:solidFill>
          <a:ln w="12700">
            <a:solidFill>
              <a:srgbClr val="263353"/>
            </a:solidFill>
            <a:prstDash val="solid"/>
          </a:ln>
        </p:spPr>
      </p:sp>
      <p:sp>
        <p:nvSpPr>
          <p:cNvPr id="18" name="Text 12"/>
          <p:cNvSpPr/>
          <p:nvPr/>
        </p:nvSpPr>
        <p:spPr>
          <a:xfrm>
            <a:off x="777240" y="5870448"/>
            <a:ext cx="10634472" cy="658368"/>
          </a:xfrm>
          <a:prstGeom prst="rect">
            <a:avLst/>
          </a:prstGeom>
          <a:noFill/>
          <a:ln/>
        </p:spPr>
        <p:txBody>
          <a:bodyPr wrap="square" rtlCol="0" anchor="ctr"/>
          <a:lstStyle/>
          <a:p>
            <a:pPr algn="ctr" indent="0" marL="0">
              <a:buNone/>
            </a:pPr>
            <a:r>
              <a:rPr lang="en-US" sz="1600" b="1" i="1" dirty="0">
                <a:solidFill>
                  <a:srgbClr val="22D3EE"/>
                </a:solidFill>
                <a:latin typeface="Calibri" pitchFamily="34" charset="0"/>
                <a:ea typeface="Calibri" pitchFamily="34" charset="-122"/>
                <a:cs typeface="Calibri" pitchFamily="34" charset="-120"/>
              </a:rPr>
              <a:t>“Model improvement should be reviewable, repeatable, and reversible.”</a:t>
            </a:r>
            <a:endParaRPr lang="en-US" sz="1600" dirty="0"/>
          </a:p>
        </p:txBody>
      </p:sp>
      <p:sp>
        <p:nvSpPr>
          <p:cNvPr id="19" name="Text 13"/>
          <p:cNvSpPr/>
          <p:nvPr/>
        </p:nvSpPr>
        <p:spPr>
          <a:xfrm>
            <a:off x="502920" y="6528816"/>
            <a:ext cx="2743200" cy="256032"/>
          </a:xfrm>
          <a:prstGeom prst="rect">
            <a:avLst/>
          </a:prstGeom>
          <a:noFill/>
          <a:ln/>
        </p:spPr>
        <p:txBody>
          <a:bodyPr wrap="square" rtlCol="0" anchor="ctr"/>
          <a:lstStyle/>
          <a:p>
            <a:pPr indent="0" marL="0">
              <a:buNone/>
            </a:pPr>
            <a:r>
              <a:rPr lang="en-US" sz="900" b="1" spc="200" kern="0" dirty="0">
                <a:solidFill>
                  <a:srgbClr val="4B5878"/>
                </a:solidFill>
                <a:latin typeface="Calibri" pitchFamily="34" charset="0"/>
                <a:ea typeface="Calibri" pitchFamily="34" charset="-122"/>
                <a:cs typeface="Calibri" pitchFamily="34" charset="-120"/>
              </a:rPr>
              <a:t>EMERGEGPT</a:t>
            </a:r>
            <a:endParaRPr lang="en-US" sz="900" dirty="0"/>
          </a:p>
        </p:txBody>
      </p:sp>
      <p:sp>
        <p:nvSpPr>
          <p:cNvPr id="20" name="Text 14"/>
          <p:cNvSpPr/>
          <p:nvPr/>
        </p:nvSpPr>
        <p:spPr>
          <a:xfrm>
            <a:off x="10454335" y="6528816"/>
            <a:ext cx="1234440" cy="256032"/>
          </a:xfrm>
          <a:prstGeom prst="rect">
            <a:avLst/>
          </a:prstGeom>
          <a:noFill/>
          <a:ln/>
        </p:spPr>
        <p:txBody>
          <a:bodyPr wrap="square" rtlCol="0" anchor="ctr"/>
          <a:lstStyle/>
          <a:p>
            <a:pPr algn="r" indent="0" marL="0">
              <a:buNone/>
            </a:pPr>
            <a:r>
              <a:rPr lang="en-US" sz="900" dirty="0">
                <a:solidFill>
                  <a:srgbClr val="4B5878"/>
                </a:solidFill>
                <a:latin typeface="Calibri" pitchFamily="34" charset="0"/>
                <a:ea typeface="Calibri" pitchFamily="34" charset="-122"/>
                <a:cs typeface="Calibri" pitchFamily="34" charset="-120"/>
              </a:rPr>
              <a:t>02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502920" y="365760"/>
            <a:ext cx="8229600" cy="256032"/>
          </a:xfrm>
          <a:prstGeom prst="rect">
            <a:avLst/>
          </a:prstGeom>
          <a:noFill/>
          <a:ln/>
        </p:spPr>
        <p:txBody>
          <a:bodyPr wrap="square"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02 · HOW IT WORKS</a:t>
            </a:r>
            <a:endParaRPr lang="en-US" sz="1150" dirty="0"/>
          </a:p>
        </p:txBody>
      </p:sp>
      <p:sp>
        <p:nvSpPr>
          <p:cNvPr id="3" name="Text 1"/>
          <p:cNvSpPr/>
          <p:nvPr/>
        </p:nvSpPr>
        <p:spPr>
          <a:xfrm>
            <a:off x="484632" y="658368"/>
            <a:ext cx="10607040" cy="640080"/>
          </a:xfrm>
          <a:prstGeom prst="rect">
            <a:avLst/>
          </a:prstGeom>
          <a:noFill/>
          <a:ln/>
        </p:spPr>
        <p:txBody>
          <a:bodyPr wrap="square" rtlCol="0" anchor="t"/>
          <a:lstStyle/>
          <a:p>
            <a:pPr algn="l" indent="0" marL="0">
              <a:lnSpc>
                <a:spcPct val="105000"/>
              </a:lnSpc>
              <a:buNone/>
            </a:pPr>
            <a:r>
              <a:rPr lang="en-US" sz="2700" b="1" dirty="0">
                <a:solidFill>
                  <a:srgbClr val="F1F5F9"/>
                </a:solidFill>
                <a:latin typeface="Calibri" pitchFamily="34" charset="0"/>
                <a:ea typeface="Calibri" pitchFamily="34" charset="-122"/>
                <a:cs typeface="Calibri" pitchFamily="34" charset="-120"/>
              </a:rPr>
              <a:t>A Governed Path from Evidence to Model</a:t>
            </a:r>
            <a:endParaRPr lang="en-US" sz="2700" dirty="0"/>
          </a:p>
        </p:txBody>
      </p:sp>
      <p:sp>
        <p:nvSpPr>
          <p:cNvPr id="4" name="Shape 2"/>
          <p:cNvSpPr/>
          <p:nvPr/>
        </p:nvSpPr>
        <p:spPr>
          <a:xfrm>
            <a:off x="457200" y="1783080"/>
            <a:ext cx="3291840" cy="1371600"/>
          </a:xfrm>
          <a:prstGeom prst="roundRect">
            <a:avLst>
              <a:gd name="adj" fmla="val 6000"/>
            </a:avLst>
          </a:prstGeom>
          <a:solidFill>
            <a:srgbClr val="121B2E"/>
          </a:solidFill>
          <a:ln w="12700">
            <a:solidFill>
              <a:srgbClr val="263353"/>
            </a:solidFill>
            <a:prstDash val="solid"/>
          </a:ln>
        </p:spPr>
      </p:sp>
      <p:sp>
        <p:nvSpPr>
          <p:cNvPr id="5" name="Shape 3"/>
          <p:cNvSpPr/>
          <p:nvPr/>
        </p:nvSpPr>
        <p:spPr>
          <a:xfrm>
            <a:off x="1911096" y="1938528"/>
            <a:ext cx="384048" cy="384048"/>
          </a:xfrm>
          <a:prstGeom prst="ellipse">
            <a:avLst/>
          </a:prstGeom>
          <a:solidFill>
            <a:srgbClr val="1C2947"/>
          </a:solidFill>
          <a:ln w="9525">
            <a:solidFill>
              <a:srgbClr val="22D3EE"/>
            </a:solidFill>
            <a:prstDash val="solid"/>
          </a:ln>
        </p:spPr>
      </p:sp>
      <p:pic>
        <p:nvPicPr>
          <p:cNvPr id="6" name="Image 0" descr="/home/claude/emergegpt/assets/icons/share2_cyan.png">    </p:cNvPr>
          <p:cNvPicPr>
            <a:picLocks noChangeAspect="1"/>
          </p:cNvPicPr>
          <p:nvPr/>
        </p:nvPicPr>
        <p:blipFill>
          <a:blip r:embed="rId1"/>
          <a:stretch>
            <a:fillRect/>
          </a:stretch>
        </p:blipFill>
        <p:spPr>
          <a:xfrm>
            <a:off x="2003268" y="2030700"/>
            <a:ext cx="199705" cy="199705"/>
          </a:xfrm>
          <a:prstGeom prst="rect">
            <a:avLst/>
          </a:prstGeom>
        </p:spPr>
      </p:pic>
      <p:sp>
        <p:nvSpPr>
          <p:cNvPr id="7" name="Text 4"/>
          <p:cNvSpPr/>
          <p:nvPr/>
        </p:nvSpPr>
        <p:spPr>
          <a:xfrm>
            <a:off x="530352" y="240487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CRAFT Catalog Evidence</a:t>
            </a:r>
            <a:endParaRPr lang="en-US" sz="1100" dirty="0"/>
          </a:p>
        </p:txBody>
      </p:sp>
      <p:sp>
        <p:nvSpPr>
          <p:cNvPr id="8" name="Text 5"/>
          <p:cNvSpPr/>
          <p:nvPr/>
        </p:nvSpPr>
        <p:spPr>
          <a:xfrm>
            <a:off x="530352" y="290779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Firebase + GA4</a:t>
            </a:r>
            <a:endParaRPr lang="en-US" sz="900" dirty="0"/>
          </a:p>
        </p:txBody>
      </p:sp>
      <p:sp>
        <p:nvSpPr>
          <p:cNvPr id="9" name="Shape 6"/>
          <p:cNvSpPr/>
          <p:nvPr/>
        </p:nvSpPr>
        <p:spPr>
          <a:xfrm>
            <a:off x="4434840" y="1783080"/>
            <a:ext cx="3291840" cy="1371600"/>
          </a:xfrm>
          <a:prstGeom prst="roundRect">
            <a:avLst>
              <a:gd name="adj" fmla="val 6000"/>
            </a:avLst>
          </a:prstGeom>
          <a:solidFill>
            <a:srgbClr val="121B2E"/>
          </a:solidFill>
          <a:ln w="12700">
            <a:solidFill>
              <a:srgbClr val="263353"/>
            </a:solidFill>
            <a:prstDash val="solid"/>
          </a:ln>
        </p:spPr>
      </p:sp>
      <p:sp>
        <p:nvSpPr>
          <p:cNvPr id="10" name="Shape 7"/>
          <p:cNvSpPr/>
          <p:nvPr/>
        </p:nvSpPr>
        <p:spPr>
          <a:xfrm>
            <a:off x="5888736" y="1938528"/>
            <a:ext cx="384048" cy="384048"/>
          </a:xfrm>
          <a:prstGeom prst="ellipse">
            <a:avLst/>
          </a:prstGeom>
          <a:solidFill>
            <a:srgbClr val="1C2947"/>
          </a:solidFill>
          <a:ln w="9525">
            <a:solidFill>
              <a:srgbClr val="22D3EE"/>
            </a:solidFill>
            <a:prstDash val="solid"/>
          </a:ln>
        </p:spPr>
      </p:sp>
      <p:pic>
        <p:nvPicPr>
          <p:cNvPr id="11" name="Image 1" descr="/home/claude/emergegpt/assets/icons/activity_cyan.png">    </p:cNvPr>
          <p:cNvPicPr>
            <a:picLocks noChangeAspect="1"/>
          </p:cNvPicPr>
          <p:nvPr/>
        </p:nvPicPr>
        <p:blipFill>
          <a:blip r:embed="rId2"/>
          <a:stretch>
            <a:fillRect/>
          </a:stretch>
        </p:blipFill>
        <p:spPr>
          <a:xfrm>
            <a:off x="5980908" y="2030700"/>
            <a:ext cx="199705" cy="199705"/>
          </a:xfrm>
          <a:prstGeom prst="rect">
            <a:avLst/>
          </a:prstGeom>
        </p:spPr>
      </p:pic>
      <p:sp>
        <p:nvSpPr>
          <p:cNvPr id="12" name="Text 8"/>
          <p:cNvSpPr/>
          <p:nvPr/>
        </p:nvSpPr>
        <p:spPr>
          <a:xfrm>
            <a:off x="4507992" y="240487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Design Decision Traces</a:t>
            </a:r>
            <a:endParaRPr lang="en-US" sz="1100" dirty="0"/>
          </a:p>
        </p:txBody>
      </p:sp>
      <p:sp>
        <p:nvSpPr>
          <p:cNvPr id="13" name="Text 9"/>
          <p:cNvSpPr/>
          <p:nvPr/>
        </p:nvSpPr>
        <p:spPr>
          <a:xfrm>
            <a:off x="4507992" y="290779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evidence, policy, answer</a:t>
            </a:r>
            <a:endParaRPr lang="en-US" sz="900" dirty="0"/>
          </a:p>
        </p:txBody>
      </p:sp>
      <p:sp>
        <p:nvSpPr>
          <p:cNvPr id="14" name="Shape 10"/>
          <p:cNvSpPr/>
          <p:nvPr/>
        </p:nvSpPr>
        <p:spPr>
          <a:xfrm>
            <a:off x="8412480" y="1783080"/>
            <a:ext cx="3291840" cy="1371600"/>
          </a:xfrm>
          <a:prstGeom prst="roundRect">
            <a:avLst>
              <a:gd name="adj" fmla="val 6000"/>
            </a:avLst>
          </a:prstGeom>
          <a:solidFill>
            <a:srgbClr val="121B2E"/>
          </a:solidFill>
          <a:ln w="12700">
            <a:solidFill>
              <a:srgbClr val="263353"/>
            </a:solidFill>
            <a:prstDash val="solid"/>
          </a:ln>
        </p:spPr>
      </p:sp>
      <p:sp>
        <p:nvSpPr>
          <p:cNvPr id="15" name="Shape 11"/>
          <p:cNvSpPr/>
          <p:nvPr/>
        </p:nvSpPr>
        <p:spPr>
          <a:xfrm>
            <a:off x="9866376" y="1938528"/>
            <a:ext cx="384048" cy="384048"/>
          </a:xfrm>
          <a:prstGeom prst="ellipse">
            <a:avLst/>
          </a:prstGeom>
          <a:solidFill>
            <a:srgbClr val="1C2947"/>
          </a:solidFill>
          <a:ln w="9525">
            <a:solidFill>
              <a:srgbClr val="22D3EE"/>
            </a:solidFill>
            <a:prstDash val="solid"/>
          </a:ln>
        </p:spPr>
      </p:sp>
      <p:pic>
        <p:nvPicPr>
          <p:cNvPr id="16" name="Image 2" descr="/home/claude/emergegpt/assets/icons/filter_cyan.png">    </p:cNvPr>
          <p:cNvPicPr>
            <a:picLocks noChangeAspect="1"/>
          </p:cNvPicPr>
          <p:nvPr/>
        </p:nvPicPr>
        <p:blipFill>
          <a:blip r:embed="rId3"/>
          <a:stretch>
            <a:fillRect/>
          </a:stretch>
        </p:blipFill>
        <p:spPr>
          <a:xfrm>
            <a:off x="9958548" y="2030700"/>
            <a:ext cx="199705" cy="199705"/>
          </a:xfrm>
          <a:prstGeom prst="rect">
            <a:avLst/>
          </a:prstGeom>
        </p:spPr>
      </p:pic>
      <p:sp>
        <p:nvSpPr>
          <p:cNvPr id="17" name="Text 12"/>
          <p:cNvSpPr/>
          <p:nvPr/>
        </p:nvSpPr>
        <p:spPr>
          <a:xfrm>
            <a:off x="8485632" y="240487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Review &amp; Version</a:t>
            </a:r>
            <a:endParaRPr lang="en-US" sz="1100" dirty="0"/>
          </a:p>
        </p:txBody>
      </p:sp>
      <p:sp>
        <p:nvSpPr>
          <p:cNvPr id="18" name="Text 13"/>
          <p:cNvSpPr/>
          <p:nvPr/>
        </p:nvSpPr>
        <p:spPr>
          <a:xfrm>
            <a:off x="8485632" y="290779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manifests + 100/100 split</a:t>
            </a:r>
            <a:endParaRPr lang="en-US" sz="900" dirty="0"/>
          </a:p>
        </p:txBody>
      </p:sp>
      <p:sp>
        <p:nvSpPr>
          <p:cNvPr id="19" name="Shape 14"/>
          <p:cNvSpPr/>
          <p:nvPr/>
        </p:nvSpPr>
        <p:spPr>
          <a:xfrm>
            <a:off x="8412480" y="3794760"/>
            <a:ext cx="3291840" cy="1371600"/>
          </a:xfrm>
          <a:prstGeom prst="roundRect">
            <a:avLst>
              <a:gd name="adj" fmla="val 6000"/>
            </a:avLst>
          </a:prstGeom>
          <a:solidFill>
            <a:srgbClr val="121B2E"/>
          </a:solidFill>
          <a:ln w="12700">
            <a:solidFill>
              <a:srgbClr val="263353"/>
            </a:solidFill>
            <a:prstDash val="solid"/>
          </a:ln>
        </p:spPr>
      </p:sp>
      <p:sp>
        <p:nvSpPr>
          <p:cNvPr id="20" name="Shape 15"/>
          <p:cNvSpPr/>
          <p:nvPr/>
        </p:nvSpPr>
        <p:spPr>
          <a:xfrm>
            <a:off x="9866376" y="3950208"/>
            <a:ext cx="384048" cy="384048"/>
          </a:xfrm>
          <a:prstGeom prst="ellipse">
            <a:avLst/>
          </a:prstGeom>
          <a:solidFill>
            <a:srgbClr val="1C2947"/>
          </a:solidFill>
          <a:ln w="9525">
            <a:solidFill>
              <a:srgbClr val="A78BFA"/>
            </a:solidFill>
            <a:prstDash val="solid"/>
          </a:ln>
        </p:spPr>
      </p:sp>
      <p:pic>
        <p:nvPicPr>
          <p:cNvPr id="21" name="Image 3" descr="/home/claude/emergegpt/assets/icons/sliders_violet.png">    </p:cNvPr>
          <p:cNvPicPr>
            <a:picLocks noChangeAspect="1"/>
          </p:cNvPicPr>
          <p:nvPr/>
        </p:nvPicPr>
        <p:blipFill>
          <a:blip r:embed="rId4"/>
          <a:stretch>
            <a:fillRect/>
          </a:stretch>
        </p:blipFill>
        <p:spPr>
          <a:xfrm>
            <a:off x="9958548" y="4042380"/>
            <a:ext cx="199705" cy="199705"/>
          </a:xfrm>
          <a:prstGeom prst="rect">
            <a:avLst/>
          </a:prstGeom>
        </p:spPr>
      </p:pic>
      <p:sp>
        <p:nvSpPr>
          <p:cNvPr id="22" name="Text 16"/>
          <p:cNvSpPr/>
          <p:nvPr/>
        </p:nvSpPr>
        <p:spPr>
          <a:xfrm>
            <a:off x="8485632" y="441655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Managed LoRA</a:t>
            </a:r>
            <a:endParaRPr lang="en-US" sz="1100" dirty="0"/>
          </a:p>
        </p:txBody>
      </p:sp>
      <p:sp>
        <p:nvSpPr>
          <p:cNvPr id="23" name="Text 17"/>
          <p:cNvSpPr/>
          <p:nvPr/>
        </p:nvSpPr>
        <p:spPr>
          <a:xfrm>
            <a:off x="8485632" y="491947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Qwen3 A3B · Nebius</a:t>
            </a:r>
            <a:endParaRPr lang="en-US" sz="900" dirty="0"/>
          </a:p>
        </p:txBody>
      </p:sp>
      <p:sp>
        <p:nvSpPr>
          <p:cNvPr id="24" name="Shape 18"/>
          <p:cNvSpPr/>
          <p:nvPr/>
        </p:nvSpPr>
        <p:spPr>
          <a:xfrm>
            <a:off x="4434840" y="3794760"/>
            <a:ext cx="3291840" cy="1371600"/>
          </a:xfrm>
          <a:prstGeom prst="roundRect">
            <a:avLst>
              <a:gd name="adj" fmla="val 6000"/>
            </a:avLst>
          </a:prstGeom>
          <a:solidFill>
            <a:srgbClr val="121B2E"/>
          </a:solidFill>
          <a:ln w="12700">
            <a:solidFill>
              <a:srgbClr val="263353"/>
            </a:solidFill>
            <a:prstDash val="solid"/>
          </a:ln>
        </p:spPr>
      </p:sp>
      <p:sp>
        <p:nvSpPr>
          <p:cNvPr id="25" name="Shape 19"/>
          <p:cNvSpPr/>
          <p:nvPr/>
        </p:nvSpPr>
        <p:spPr>
          <a:xfrm>
            <a:off x="5888736" y="3950208"/>
            <a:ext cx="384048" cy="384048"/>
          </a:xfrm>
          <a:prstGeom prst="ellipse">
            <a:avLst/>
          </a:prstGeom>
          <a:solidFill>
            <a:srgbClr val="1C2947"/>
          </a:solidFill>
          <a:ln w="9525">
            <a:solidFill>
              <a:srgbClr val="22D3EE"/>
            </a:solidFill>
            <a:prstDash val="solid"/>
          </a:ln>
        </p:spPr>
      </p:sp>
      <p:pic>
        <p:nvPicPr>
          <p:cNvPr id="26" name="Image 4" descr="/home/claude/emergegpt/assets/icons/box_cyan.png">    </p:cNvPr>
          <p:cNvPicPr>
            <a:picLocks noChangeAspect="1"/>
          </p:cNvPicPr>
          <p:nvPr/>
        </p:nvPicPr>
        <p:blipFill>
          <a:blip r:embed="rId5"/>
          <a:stretch>
            <a:fillRect/>
          </a:stretch>
        </p:blipFill>
        <p:spPr>
          <a:xfrm>
            <a:off x="5980908" y="4042380"/>
            <a:ext cx="199705" cy="199705"/>
          </a:xfrm>
          <a:prstGeom prst="rect">
            <a:avLst/>
          </a:prstGeom>
        </p:spPr>
      </p:pic>
      <p:sp>
        <p:nvSpPr>
          <p:cNvPr id="27" name="Text 20"/>
          <p:cNvSpPr/>
          <p:nvPr/>
        </p:nvSpPr>
        <p:spPr>
          <a:xfrm>
            <a:off x="4507992" y="441655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Operate &amp; Explain</a:t>
            </a:r>
            <a:endParaRPr lang="en-US" sz="1100" dirty="0"/>
          </a:p>
        </p:txBody>
      </p:sp>
      <p:sp>
        <p:nvSpPr>
          <p:cNvPr id="28" name="Text 21"/>
          <p:cNvSpPr/>
          <p:nvPr/>
        </p:nvSpPr>
        <p:spPr>
          <a:xfrm>
            <a:off x="4507992" y="491947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history, budgets, voice Q&amp;A</a:t>
            </a:r>
            <a:endParaRPr lang="en-US" sz="900" dirty="0"/>
          </a:p>
        </p:txBody>
      </p:sp>
      <p:sp>
        <p:nvSpPr>
          <p:cNvPr id="29" name="Shape 22"/>
          <p:cNvSpPr/>
          <p:nvPr/>
        </p:nvSpPr>
        <p:spPr>
          <a:xfrm>
            <a:off x="457200" y="3794760"/>
            <a:ext cx="3291840" cy="1371600"/>
          </a:xfrm>
          <a:prstGeom prst="roundRect">
            <a:avLst>
              <a:gd name="adj" fmla="val 6000"/>
            </a:avLst>
          </a:prstGeom>
          <a:solidFill>
            <a:srgbClr val="121B2E"/>
          </a:solidFill>
          <a:ln w="12700">
            <a:solidFill>
              <a:srgbClr val="263353"/>
            </a:solidFill>
            <a:prstDash val="solid"/>
          </a:ln>
        </p:spPr>
      </p:sp>
      <p:sp>
        <p:nvSpPr>
          <p:cNvPr id="30" name="Shape 23"/>
          <p:cNvSpPr/>
          <p:nvPr/>
        </p:nvSpPr>
        <p:spPr>
          <a:xfrm>
            <a:off x="1911096" y="3950208"/>
            <a:ext cx="384048" cy="384048"/>
          </a:xfrm>
          <a:prstGeom prst="ellipse">
            <a:avLst/>
          </a:prstGeom>
          <a:solidFill>
            <a:srgbClr val="1C2947"/>
          </a:solidFill>
          <a:ln w="9525">
            <a:solidFill>
              <a:srgbClr val="22D3EE"/>
            </a:solidFill>
            <a:prstDash val="solid"/>
          </a:ln>
        </p:spPr>
      </p:sp>
      <p:pic>
        <p:nvPicPr>
          <p:cNvPr id="31" name="Image 5" descr="/home/claude/emergegpt/assets/icons/target_cyan.png">    </p:cNvPr>
          <p:cNvPicPr>
            <a:picLocks noChangeAspect="1"/>
          </p:cNvPicPr>
          <p:nvPr/>
        </p:nvPicPr>
        <p:blipFill>
          <a:blip r:embed="rId6"/>
          <a:stretch>
            <a:fillRect/>
          </a:stretch>
        </p:blipFill>
        <p:spPr>
          <a:xfrm>
            <a:off x="2003268" y="4042380"/>
            <a:ext cx="199705" cy="199705"/>
          </a:xfrm>
          <a:prstGeom prst="rect">
            <a:avLst/>
          </a:prstGeom>
        </p:spPr>
      </p:pic>
      <p:sp>
        <p:nvSpPr>
          <p:cNvPr id="32" name="Text 24"/>
          <p:cNvSpPr/>
          <p:nvPr/>
        </p:nvSpPr>
        <p:spPr>
          <a:xfrm>
            <a:off x="530352" y="4416552"/>
            <a:ext cx="3145536" cy="493776"/>
          </a:xfrm>
          <a:prstGeom prst="rect">
            <a:avLst/>
          </a:prstGeom>
          <a:noFill/>
          <a:ln/>
        </p:spPr>
        <p:txBody>
          <a:bodyPr wrap="square" rtlCol="0" anchor="t"/>
          <a:lstStyle/>
          <a:p>
            <a:pPr algn="ctr" indent="0" marL="0">
              <a:lnSpc>
                <a:spcPct val="105000"/>
              </a:lnSpc>
              <a:buNone/>
            </a:pPr>
            <a:r>
              <a:rPr lang="en-US" sz="1100" b="1" dirty="0">
                <a:solidFill>
                  <a:srgbClr val="F1F5F9"/>
                </a:solidFill>
                <a:latin typeface="Calibri" pitchFamily="34" charset="0"/>
                <a:ea typeface="Calibri" pitchFamily="34" charset="-122"/>
                <a:cs typeface="Calibri" pitchFamily="34" charset="-120"/>
              </a:rPr>
              <a:t>Deploy &amp; Compare</a:t>
            </a:r>
            <a:endParaRPr lang="en-US" sz="1100" dirty="0"/>
          </a:p>
        </p:txBody>
      </p:sp>
      <p:sp>
        <p:nvSpPr>
          <p:cNvPr id="33" name="Text 25"/>
          <p:cNvSpPr/>
          <p:nvPr/>
        </p:nvSpPr>
        <p:spPr>
          <a:xfrm>
            <a:off x="530352" y="4919472"/>
            <a:ext cx="3145536" cy="201168"/>
          </a:xfrm>
          <a:prstGeom prst="rect">
            <a:avLst/>
          </a:prstGeom>
          <a:noFill/>
          <a:ln/>
        </p:spPr>
        <p:txBody>
          <a:bodyPr wrap="square" rtlCol="0" anchor="b"/>
          <a:lstStyle/>
          <a:p>
            <a:pPr algn="ctr" indent="0" marL="0">
              <a:buNone/>
            </a:pPr>
            <a:r>
              <a:rPr lang="en-US" sz="900" i="1" dirty="0">
                <a:solidFill>
                  <a:srgbClr val="8592AD"/>
                </a:solidFill>
                <a:latin typeface="Calibri" pitchFamily="34" charset="0"/>
                <a:ea typeface="Calibri" pitchFamily="34" charset="-122"/>
                <a:cs typeface="Calibri" pitchFamily="34" charset="-120"/>
              </a:rPr>
              <a:t>pending: base vs. adapter</a:t>
            </a:r>
            <a:endParaRPr lang="en-US" sz="900" dirty="0"/>
          </a:p>
        </p:txBody>
      </p:sp>
      <p:sp>
        <p:nvSpPr>
          <p:cNvPr id="34" name="Shape 26"/>
          <p:cNvSpPr/>
          <p:nvPr/>
        </p:nvSpPr>
        <p:spPr>
          <a:xfrm>
            <a:off x="2880360" y="3694176"/>
            <a:ext cx="777240" cy="182880"/>
          </a:xfrm>
          <a:prstGeom prst="roundRect">
            <a:avLst>
              <a:gd name="adj" fmla="val 50000"/>
            </a:avLst>
          </a:prstGeom>
          <a:solidFill>
            <a:srgbClr val="A78BFA"/>
          </a:solidFill>
          <a:ln w="12700">
            <a:solidFill>
              <a:srgbClr val="A78BFA"/>
            </a:solidFill>
            <a:prstDash val="solid"/>
          </a:ln>
        </p:spPr>
      </p:sp>
      <p:sp>
        <p:nvSpPr>
          <p:cNvPr id="35" name="Text 27"/>
          <p:cNvSpPr/>
          <p:nvPr/>
        </p:nvSpPr>
        <p:spPr>
          <a:xfrm>
            <a:off x="2880360" y="3689604"/>
            <a:ext cx="777240" cy="182880"/>
          </a:xfrm>
          <a:prstGeom prst="rect">
            <a:avLst/>
          </a:prstGeom>
          <a:noFill/>
          <a:ln/>
        </p:spPr>
        <p:txBody>
          <a:bodyPr wrap="square" rtlCol="0" anchor="ctr"/>
          <a:lstStyle/>
          <a:p>
            <a:pPr algn="ctr" indent="0" marL="0">
              <a:buNone/>
            </a:pPr>
            <a:r>
              <a:rPr lang="en-US" sz="750" b="1" spc="50" kern="0" dirty="0">
                <a:solidFill>
                  <a:srgbClr val="0A0F1E"/>
                </a:solidFill>
                <a:latin typeface="Calibri" pitchFamily="34" charset="0"/>
                <a:ea typeface="Calibri" pitchFamily="34" charset="-122"/>
                <a:cs typeface="Calibri" pitchFamily="34" charset="-120"/>
              </a:rPr>
              <a:t>ITERATE</a:t>
            </a:r>
            <a:endParaRPr lang="en-US" sz="750" dirty="0"/>
          </a:p>
        </p:txBody>
      </p:sp>
      <p:sp>
        <p:nvSpPr>
          <p:cNvPr id="36" name="Shape 28"/>
          <p:cNvSpPr/>
          <p:nvPr/>
        </p:nvSpPr>
        <p:spPr>
          <a:xfrm>
            <a:off x="3803904" y="2468880"/>
            <a:ext cx="576072" cy="0"/>
          </a:xfrm>
          <a:prstGeom prst="line">
            <a:avLst/>
          </a:prstGeom>
          <a:noFill/>
          <a:ln w="15875">
            <a:solidFill>
              <a:srgbClr val="22D3EE"/>
            </a:solidFill>
            <a:prstDash val="solid"/>
            <a:tailEnd type="triangle"/>
          </a:ln>
        </p:spPr>
      </p:sp>
      <p:sp>
        <p:nvSpPr>
          <p:cNvPr id="37" name="Shape 29"/>
          <p:cNvSpPr/>
          <p:nvPr/>
        </p:nvSpPr>
        <p:spPr>
          <a:xfrm>
            <a:off x="7781544" y="2468880"/>
            <a:ext cx="576072" cy="0"/>
          </a:xfrm>
          <a:prstGeom prst="line">
            <a:avLst/>
          </a:prstGeom>
          <a:noFill/>
          <a:ln w="15875">
            <a:solidFill>
              <a:srgbClr val="22D3EE"/>
            </a:solidFill>
            <a:prstDash val="solid"/>
            <a:tailEnd type="triangle"/>
          </a:ln>
        </p:spPr>
      </p:sp>
      <p:sp>
        <p:nvSpPr>
          <p:cNvPr id="38" name="Shape 30"/>
          <p:cNvSpPr/>
          <p:nvPr/>
        </p:nvSpPr>
        <p:spPr>
          <a:xfrm>
            <a:off x="10058400" y="3154680"/>
            <a:ext cx="0" cy="640080"/>
          </a:xfrm>
          <a:prstGeom prst="line">
            <a:avLst/>
          </a:prstGeom>
          <a:noFill/>
          <a:ln w="15875">
            <a:solidFill>
              <a:srgbClr val="22D3EE"/>
            </a:solidFill>
            <a:prstDash val="solid"/>
            <a:tailEnd type="triangle"/>
          </a:ln>
        </p:spPr>
      </p:sp>
      <p:sp>
        <p:nvSpPr>
          <p:cNvPr id="39" name="Shape 31"/>
          <p:cNvSpPr/>
          <p:nvPr/>
        </p:nvSpPr>
        <p:spPr>
          <a:xfrm>
            <a:off x="7781544" y="4480560"/>
            <a:ext cx="576072" cy="0"/>
          </a:xfrm>
          <a:prstGeom prst="line">
            <a:avLst/>
          </a:prstGeom>
          <a:noFill/>
          <a:ln w="15875">
            <a:solidFill>
              <a:srgbClr val="22D3EE"/>
            </a:solidFill>
            <a:prstDash val="solid"/>
            <a:headEnd type="triangle"/>
          </a:ln>
        </p:spPr>
      </p:sp>
      <p:sp>
        <p:nvSpPr>
          <p:cNvPr id="40" name="Shape 32"/>
          <p:cNvSpPr/>
          <p:nvPr/>
        </p:nvSpPr>
        <p:spPr>
          <a:xfrm>
            <a:off x="3803904" y="4480560"/>
            <a:ext cx="576072" cy="0"/>
          </a:xfrm>
          <a:prstGeom prst="line">
            <a:avLst/>
          </a:prstGeom>
          <a:noFill/>
          <a:ln w="15875">
            <a:solidFill>
              <a:srgbClr val="22D3EE"/>
            </a:solidFill>
            <a:prstDash val="solid"/>
            <a:headEnd type="triangle"/>
          </a:ln>
        </p:spPr>
      </p:sp>
      <p:sp>
        <p:nvSpPr>
          <p:cNvPr id="41" name="Shape 33"/>
          <p:cNvSpPr/>
          <p:nvPr/>
        </p:nvSpPr>
        <p:spPr>
          <a:xfrm>
            <a:off x="2103120" y="3154680"/>
            <a:ext cx="0" cy="640080"/>
          </a:xfrm>
          <a:prstGeom prst="line">
            <a:avLst/>
          </a:prstGeom>
          <a:noFill/>
          <a:ln w="19050">
            <a:solidFill>
              <a:srgbClr val="A78BFA"/>
            </a:solidFill>
            <a:prstDash val="dash"/>
            <a:headEnd type="triangle"/>
          </a:ln>
        </p:spPr>
      </p:sp>
      <p:sp>
        <p:nvSpPr>
          <p:cNvPr id="42" name="Text 34"/>
          <p:cNvSpPr/>
          <p:nvPr/>
        </p:nvSpPr>
        <p:spPr>
          <a:xfrm>
            <a:off x="457200" y="5715000"/>
            <a:ext cx="11274552" cy="274320"/>
          </a:xfrm>
          <a:prstGeom prst="rect">
            <a:avLst/>
          </a:prstGeom>
          <a:noFill/>
          <a:ln/>
        </p:spPr>
        <p:txBody>
          <a:bodyPr wrap="square" rtlCol="0" anchor="ctr"/>
          <a:lstStyle/>
          <a:p>
            <a:pPr algn="ctr" indent="0" marL="0">
              <a:buNone/>
            </a:pPr>
            <a:r>
              <a:rPr lang="en-US" sz="1050" i="1" dirty="0">
                <a:solidFill>
                  <a:srgbClr val="4B5878"/>
                </a:solidFill>
                <a:latin typeface="Calibri" pitchFamily="34" charset="0"/>
                <a:ea typeface="Calibri" pitchFamily="34" charset="-122"/>
                <a:cs typeface="Calibri" pitchFamily="34" charset="-120"/>
              </a:rPr>
              <a:t>Current: training complete. Next: deploy the adapter and prove improvement.</a:t>
            </a:r>
            <a:endParaRPr lang="en-US" sz="1050" dirty="0"/>
          </a:p>
        </p:txBody>
      </p:sp>
      <p:sp>
        <p:nvSpPr>
          <p:cNvPr id="43" name="Text 35"/>
          <p:cNvSpPr/>
          <p:nvPr/>
        </p:nvSpPr>
        <p:spPr>
          <a:xfrm>
            <a:off x="502920" y="6528816"/>
            <a:ext cx="2743200" cy="256032"/>
          </a:xfrm>
          <a:prstGeom prst="rect">
            <a:avLst/>
          </a:prstGeom>
          <a:noFill/>
          <a:ln/>
        </p:spPr>
        <p:txBody>
          <a:bodyPr wrap="square" rtlCol="0" anchor="ctr"/>
          <a:lstStyle/>
          <a:p>
            <a:pPr indent="0" marL="0">
              <a:buNone/>
            </a:pPr>
            <a:r>
              <a:rPr lang="en-US" sz="900" b="1" spc="200" kern="0" dirty="0">
                <a:solidFill>
                  <a:srgbClr val="4B5878"/>
                </a:solidFill>
                <a:latin typeface="Calibri" pitchFamily="34" charset="0"/>
                <a:ea typeface="Calibri" pitchFamily="34" charset="-122"/>
                <a:cs typeface="Calibri" pitchFamily="34" charset="-120"/>
              </a:rPr>
              <a:t>EMERGEGPT</a:t>
            </a:r>
            <a:endParaRPr lang="en-US" sz="900" dirty="0"/>
          </a:p>
        </p:txBody>
      </p:sp>
      <p:sp>
        <p:nvSpPr>
          <p:cNvPr id="44" name="Text 36"/>
          <p:cNvSpPr/>
          <p:nvPr/>
        </p:nvSpPr>
        <p:spPr>
          <a:xfrm>
            <a:off x="10454335" y="6528816"/>
            <a:ext cx="1234440" cy="256032"/>
          </a:xfrm>
          <a:prstGeom prst="rect">
            <a:avLst/>
          </a:prstGeom>
          <a:noFill/>
          <a:ln/>
        </p:spPr>
        <p:txBody>
          <a:bodyPr wrap="square" rtlCol="0" anchor="ctr"/>
          <a:lstStyle/>
          <a:p>
            <a:pPr algn="r" indent="0" marL="0">
              <a:buNone/>
            </a:pPr>
            <a:r>
              <a:rPr lang="en-US" sz="900" dirty="0">
                <a:solidFill>
                  <a:srgbClr val="4B5878"/>
                </a:solidFill>
                <a:latin typeface="Calibri" pitchFamily="34" charset="0"/>
                <a:ea typeface="Calibri" pitchFamily="34" charset="-122"/>
                <a:cs typeface="Calibri" pitchFamily="34" charset="-120"/>
              </a:rPr>
              <a:t>03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502920" y="365760"/>
            <a:ext cx="8229600" cy="256032"/>
          </a:xfrm>
          <a:prstGeom prst="rect">
            <a:avLst/>
          </a:prstGeom>
          <a:noFill/>
          <a:ln/>
        </p:spPr>
        <p:txBody>
          <a:bodyPr wrap="square"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03 · WHAT WE BUILT</a:t>
            </a:r>
            <a:endParaRPr lang="en-US" sz="1150" dirty="0"/>
          </a:p>
        </p:txBody>
      </p:sp>
      <p:sp>
        <p:nvSpPr>
          <p:cNvPr id="3" name="Text 1"/>
          <p:cNvSpPr/>
          <p:nvPr/>
        </p:nvSpPr>
        <p:spPr>
          <a:xfrm>
            <a:off x="484632" y="658368"/>
            <a:ext cx="10607040" cy="640080"/>
          </a:xfrm>
          <a:prstGeom prst="rect">
            <a:avLst/>
          </a:prstGeom>
          <a:noFill/>
          <a:ln/>
        </p:spPr>
        <p:txBody>
          <a:bodyPr wrap="square" rtlCol="0" anchor="t"/>
          <a:lstStyle/>
          <a:p>
            <a:pPr algn="l" indent="0" marL="0">
              <a:lnSpc>
                <a:spcPct val="105000"/>
              </a:lnSpc>
              <a:buNone/>
            </a:pPr>
            <a:r>
              <a:rPr lang="en-US" sz="3000" b="1" dirty="0">
                <a:solidFill>
                  <a:srgbClr val="F1F5F9"/>
                </a:solidFill>
                <a:latin typeface="Calibri" pitchFamily="34" charset="0"/>
                <a:ea typeface="Calibri" pitchFamily="34" charset="-122"/>
                <a:cs typeface="Calibri" pitchFamily="34" charset="-120"/>
              </a:rPr>
              <a:t>Enterprise Control Plane — Working Today</a:t>
            </a:r>
            <a:endParaRPr lang="en-US" sz="3000" dirty="0"/>
          </a:p>
        </p:txBody>
      </p:sp>
      <p:sp>
        <p:nvSpPr>
          <p:cNvPr id="4" name="Shape 2"/>
          <p:cNvSpPr/>
          <p:nvPr/>
        </p:nvSpPr>
        <p:spPr>
          <a:xfrm>
            <a:off x="457200" y="1645920"/>
            <a:ext cx="11274552" cy="960120"/>
          </a:xfrm>
          <a:prstGeom prst="roundRect">
            <a:avLst>
              <a:gd name="adj" fmla="val 9524"/>
            </a:avLst>
          </a:prstGeom>
          <a:solidFill>
            <a:srgbClr val="121B2E"/>
          </a:solidFill>
          <a:ln w="12700">
            <a:solidFill>
              <a:srgbClr val="263353"/>
            </a:solidFill>
            <a:prstDash val="solid"/>
          </a:ln>
        </p:spPr>
      </p:sp>
      <p:pic>
        <p:nvPicPr>
          <p:cNvPr id="5" name="Image 0" descr="/home/claude/emergegpt/assets/screens/dash1_cards.png">    </p:cNvPr>
          <p:cNvPicPr>
            <a:picLocks noChangeAspect="1"/>
          </p:cNvPicPr>
          <p:nvPr/>
        </p:nvPicPr>
        <p:blipFill>
          <a:blip r:embed="rId1"/>
          <a:stretch>
            <a:fillRect/>
          </a:stretch>
        </p:blipFill>
        <p:spPr>
          <a:xfrm>
            <a:off x="898574" y="1746504"/>
            <a:ext cx="10391804" cy="758952"/>
          </a:xfrm>
          <a:prstGeom prst="rect">
            <a:avLst/>
          </a:prstGeom>
        </p:spPr>
      </p:pic>
      <p:sp>
        <p:nvSpPr>
          <p:cNvPr id="6" name="Text 3"/>
          <p:cNvSpPr/>
          <p:nvPr/>
        </p:nvSpPr>
        <p:spPr>
          <a:xfrm>
            <a:off x="457200" y="2633472"/>
            <a:ext cx="11274552" cy="237744"/>
          </a:xfrm>
          <a:prstGeom prst="rect">
            <a:avLst/>
          </a:prstGeom>
          <a:noFill/>
          <a:ln/>
        </p:spPr>
        <p:txBody>
          <a:bodyPr wrap="square" rtlCol="0" anchor="ctr"/>
          <a:lstStyle/>
          <a:p>
            <a:pPr algn="ctr" indent="0" marL="0">
              <a:buNone/>
            </a:pPr>
            <a:r>
              <a:rPr lang="en-US" sz="1100" i="1" dirty="0">
                <a:solidFill>
                  <a:srgbClr val="8592AD"/>
                </a:solidFill>
                <a:latin typeface="Calibri" pitchFamily="34" charset="0"/>
                <a:ea typeface="Calibri" pitchFamily="34" charset="-122"/>
                <a:cs typeface="Calibri" pitchFamily="34" charset="-120"/>
              </a:rPr>
              <a:t>Live screenshot — Reasoning Lab, our internal fine-tuning control surface</a:t>
            </a:r>
            <a:endParaRPr lang="en-US" sz="1100" dirty="0"/>
          </a:p>
        </p:txBody>
      </p:sp>
      <p:sp>
        <p:nvSpPr>
          <p:cNvPr id="7" name="Text 4"/>
          <p:cNvSpPr/>
          <p:nvPr/>
        </p:nvSpPr>
        <p:spPr>
          <a:xfrm>
            <a:off x="502920" y="3127248"/>
            <a:ext cx="4572000" cy="237744"/>
          </a:xfrm>
          <a:prstGeom prst="rect">
            <a:avLst/>
          </a:prstGeom>
          <a:noFill/>
          <a:ln/>
        </p:spPr>
        <p:txBody>
          <a:bodyPr wrap="square" rtlCol="0" anchor="ctr"/>
          <a:lstStyle/>
          <a:p>
            <a:pPr indent="0" marL="0">
              <a:buNone/>
            </a:pPr>
            <a:r>
              <a:rPr lang="en-US" sz="1100" b="1" spc="200" kern="0" dirty="0">
                <a:solidFill>
                  <a:srgbClr val="4B5878"/>
                </a:solidFill>
                <a:latin typeface="Calibri" pitchFamily="34" charset="0"/>
                <a:ea typeface="Calibri" pitchFamily="34" charset="-122"/>
                <a:cs typeface="Calibri" pitchFamily="34" charset="-120"/>
              </a:rPr>
              <a:t>LORA CONFIGURATION</a:t>
            </a:r>
            <a:endParaRPr lang="en-US" sz="1100" dirty="0"/>
          </a:p>
        </p:txBody>
      </p:sp>
      <p:sp>
        <p:nvSpPr>
          <p:cNvPr id="8" name="Shape 5"/>
          <p:cNvSpPr/>
          <p:nvPr/>
        </p:nvSpPr>
        <p:spPr>
          <a:xfrm>
            <a:off x="502920" y="3456432"/>
            <a:ext cx="777240" cy="384048"/>
          </a:xfrm>
          <a:prstGeom prst="roundRect">
            <a:avLst>
              <a:gd name="adj" fmla="val 50000"/>
            </a:avLst>
          </a:prstGeom>
          <a:solidFill>
            <a:srgbClr val="1C2947"/>
          </a:solidFill>
          <a:ln w="12700">
            <a:solidFill>
              <a:srgbClr val="22D3EE"/>
            </a:solidFill>
            <a:prstDash val="solid"/>
          </a:ln>
        </p:spPr>
      </p:sp>
      <p:sp>
        <p:nvSpPr>
          <p:cNvPr id="9" name="Text 6"/>
          <p:cNvSpPr/>
          <p:nvPr/>
        </p:nvSpPr>
        <p:spPr>
          <a:xfrm>
            <a:off x="502920" y="3456432"/>
            <a:ext cx="777240" cy="384048"/>
          </a:xfrm>
          <a:prstGeom prst="rect">
            <a:avLst/>
          </a:prstGeom>
          <a:noFill/>
          <a:ln/>
        </p:spPr>
        <p:txBody>
          <a:bodyPr wrap="square"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r=16</a:t>
            </a:r>
            <a:endParaRPr lang="en-US" sz="1100" dirty="0"/>
          </a:p>
        </p:txBody>
      </p:sp>
      <p:sp>
        <p:nvSpPr>
          <p:cNvPr id="10" name="Shape 7"/>
          <p:cNvSpPr/>
          <p:nvPr/>
        </p:nvSpPr>
        <p:spPr>
          <a:xfrm>
            <a:off x="1417320" y="3456432"/>
            <a:ext cx="960120" cy="384048"/>
          </a:xfrm>
          <a:prstGeom prst="roundRect">
            <a:avLst>
              <a:gd name="adj" fmla="val 50000"/>
            </a:avLst>
          </a:prstGeom>
          <a:solidFill>
            <a:srgbClr val="1C2947"/>
          </a:solidFill>
          <a:ln w="12700">
            <a:solidFill>
              <a:srgbClr val="22D3EE"/>
            </a:solidFill>
            <a:prstDash val="solid"/>
          </a:ln>
        </p:spPr>
      </p:sp>
      <p:sp>
        <p:nvSpPr>
          <p:cNvPr id="11" name="Text 8"/>
          <p:cNvSpPr/>
          <p:nvPr/>
        </p:nvSpPr>
        <p:spPr>
          <a:xfrm>
            <a:off x="1417320" y="3456432"/>
            <a:ext cx="960120" cy="384048"/>
          </a:xfrm>
          <a:prstGeom prst="rect">
            <a:avLst/>
          </a:prstGeom>
          <a:noFill/>
          <a:ln/>
        </p:spPr>
        <p:txBody>
          <a:bodyPr wrap="square"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alpha 16</a:t>
            </a:r>
            <a:endParaRPr lang="en-US" sz="1100" dirty="0"/>
          </a:p>
        </p:txBody>
      </p:sp>
      <p:sp>
        <p:nvSpPr>
          <p:cNvPr id="12" name="Shape 9"/>
          <p:cNvSpPr/>
          <p:nvPr/>
        </p:nvSpPr>
        <p:spPr>
          <a:xfrm>
            <a:off x="2514600" y="3456432"/>
            <a:ext cx="960120" cy="384048"/>
          </a:xfrm>
          <a:prstGeom prst="roundRect">
            <a:avLst>
              <a:gd name="adj" fmla="val 50000"/>
            </a:avLst>
          </a:prstGeom>
          <a:solidFill>
            <a:srgbClr val="1C2947"/>
          </a:solidFill>
          <a:ln w="12700">
            <a:solidFill>
              <a:srgbClr val="22D3EE"/>
            </a:solidFill>
            <a:prstDash val="solid"/>
          </a:ln>
        </p:spPr>
      </p:sp>
      <p:sp>
        <p:nvSpPr>
          <p:cNvPr id="13" name="Text 10"/>
          <p:cNvSpPr/>
          <p:nvPr/>
        </p:nvSpPr>
        <p:spPr>
          <a:xfrm>
            <a:off x="2514600" y="3456432"/>
            <a:ext cx="960120" cy="384048"/>
          </a:xfrm>
          <a:prstGeom prst="rect">
            <a:avLst/>
          </a:prstGeom>
          <a:noFill/>
          <a:ln/>
        </p:spPr>
        <p:txBody>
          <a:bodyPr wrap="square"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batch 16</a:t>
            </a:r>
            <a:endParaRPr lang="en-US" sz="1100" dirty="0"/>
          </a:p>
        </p:txBody>
      </p:sp>
      <p:sp>
        <p:nvSpPr>
          <p:cNvPr id="14" name="Shape 11"/>
          <p:cNvSpPr/>
          <p:nvPr/>
        </p:nvSpPr>
        <p:spPr>
          <a:xfrm>
            <a:off x="3611880" y="3456432"/>
            <a:ext cx="960120" cy="384048"/>
          </a:xfrm>
          <a:prstGeom prst="roundRect">
            <a:avLst>
              <a:gd name="adj" fmla="val 50000"/>
            </a:avLst>
          </a:prstGeom>
          <a:solidFill>
            <a:srgbClr val="1C2947"/>
          </a:solidFill>
          <a:ln w="12700">
            <a:solidFill>
              <a:srgbClr val="22D3EE"/>
            </a:solidFill>
            <a:prstDash val="solid"/>
          </a:ln>
        </p:spPr>
      </p:sp>
      <p:sp>
        <p:nvSpPr>
          <p:cNvPr id="15" name="Text 12"/>
          <p:cNvSpPr/>
          <p:nvPr/>
        </p:nvSpPr>
        <p:spPr>
          <a:xfrm>
            <a:off x="3611880" y="3456432"/>
            <a:ext cx="960120" cy="384048"/>
          </a:xfrm>
          <a:prstGeom prst="rect">
            <a:avLst/>
          </a:prstGeom>
          <a:noFill/>
          <a:ln/>
        </p:spPr>
        <p:txBody>
          <a:bodyPr wrap="square"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epochs 3</a:t>
            </a:r>
            <a:endParaRPr lang="en-US" sz="1100" dirty="0"/>
          </a:p>
        </p:txBody>
      </p:sp>
      <p:sp>
        <p:nvSpPr>
          <p:cNvPr id="16" name="Shape 13"/>
          <p:cNvSpPr/>
          <p:nvPr/>
        </p:nvSpPr>
        <p:spPr>
          <a:xfrm>
            <a:off x="4709160" y="3456432"/>
            <a:ext cx="1005840" cy="384048"/>
          </a:xfrm>
          <a:prstGeom prst="roundRect">
            <a:avLst>
              <a:gd name="adj" fmla="val 50000"/>
            </a:avLst>
          </a:prstGeom>
          <a:solidFill>
            <a:srgbClr val="1C2947"/>
          </a:solidFill>
          <a:ln w="12700">
            <a:solidFill>
              <a:srgbClr val="22D3EE"/>
            </a:solidFill>
            <a:prstDash val="solid"/>
          </a:ln>
        </p:spPr>
      </p:sp>
      <p:sp>
        <p:nvSpPr>
          <p:cNvPr id="17" name="Text 14"/>
          <p:cNvSpPr/>
          <p:nvPr/>
        </p:nvSpPr>
        <p:spPr>
          <a:xfrm>
            <a:off x="4709160" y="3456432"/>
            <a:ext cx="1005840" cy="384048"/>
          </a:xfrm>
          <a:prstGeom prst="rect">
            <a:avLst/>
          </a:prstGeom>
          <a:noFill/>
          <a:ln/>
        </p:spPr>
        <p:txBody>
          <a:bodyPr wrap="square"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ctx 8192</a:t>
            </a:r>
            <a:endParaRPr lang="en-US" sz="1100" dirty="0"/>
          </a:p>
        </p:txBody>
      </p:sp>
      <p:sp>
        <p:nvSpPr>
          <p:cNvPr id="18" name="Text 15"/>
          <p:cNvSpPr/>
          <p:nvPr/>
        </p:nvSpPr>
        <p:spPr>
          <a:xfrm>
            <a:off x="502920" y="4160520"/>
            <a:ext cx="4572000" cy="237744"/>
          </a:xfrm>
          <a:prstGeom prst="rect">
            <a:avLst/>
          </a:prstGeom>
          <a:noFill/>
          <a:ln/>
        </p:spPr>
        <p:txBody>
          <a:bodyPr wrap="square" rtlCol="0" anchor="ctr"/>
          <a:lstStyle/>
          <a:p>
            <a:pPr indent="0" marL="0">
              <a:buNone/>
            </a:pPr>
            <a:r>
              <a:rPr lang="en-US" sz="1100" b="1" spc="200" kern="0" dirty="0">
                <a:solidFill>
                  <a:srgbClr val="4B5878"/>
                </a:solidFill>
                <a:latin typeface="Calibri" pitchFamily="34" charset="0"/>
                <a:ea typeface="Calibri" pitchFamily="34" charset="-122"/>
                <a:cs typeface="Calibri" pitchFamily="34" charset="-120"/>
              </a:rPr>
              <a:t>DIGITAL ANALYTICS</a:t>
            </a:r>
            <a:endParaRPr lang="en-US" sz="1100" dirty="0"/>
          </a:p>
        </p:txBody>
      </p:sp>
      <p:sp>
        <p:nvSpPr>
          <p:cNvPr id="19" name="Text 16"/>
          <p:cNvSpPr/>
          <p:nvPr/>
        </p:nvSpPr>
        <p:spPr>
          <a:xfrm>
            <a:off x="502920" y="4443984"/>
            <a:ext cx="5394960" cy="685800"/>
          </a:xfrm>
          <a:prstGeom prst="rect">
            <a:avLst/>
          </a:prstGeom>
          <a:noFill/>
          <a:ln/>
        </p:spPr>
        <p:txBody>
          <a:bodyPr wrap="square" rtlCol="0" anchor="ctr"/>
          <a:lstStyle/>
          <a:p>
            <a:pPr indent="0" marL="0">
              <a:lnSpc>
                <a:spcPct val="120000"/>
              </a:lnSpc>
              <a:buNone/>
            </a:pPr>
            <a:r>
              <a:rPr lang="en-US" sz="1300" dirty="0">
                <a:solidFill>
                  <a:srgbClr val="F1F5F9"/>
                </a:solidFill>
                <a:latin typeface="Calibri" pitchFamily="34" charset="0"/>
                <a:ea typeface="Calibri" pitchFamily="34" charset="-122"/>
                <a:cs typeface="Calibri" pitchFamily="34" charset="-120"/>
              </a:rPr>
              <a:t>Firebase + GA4 evidence for engagement, conversion, retention, and data-policy decisions.</a:t>
            </a:r>
            <a:endParaRPr lang="en-US" sz="1300" dirty="0"/>
          </a:p>
        </p:txBody>
      </p:sp>
      <p:sp>
        <p:nvSpPr>
          <p:cNvPr id="20" name="Text 17"/>
          <p:cNvSpPr/>
          <p:nvPr/>
        </p:nvSpPr>
        <p:spPr>
          <a:xfrm>
            <a:off x="6263640" y="3127248"/>
            <a:ext cx="5394960" cy="237744"/>
          </a:xfrm>
          <a:prstGeom prst="rect">
            <a:avLst/>
          </a:prstGeom>
          <a:noFill/>
          <a:ln/>
        </p:spPr>
        <p:txBody>
          <a:bodyPr wrap="square" rtlCol="0" anchor="ctr"/>
          <a:lstStyle/>
          <a:p>
            <a:pPr indent="0" marL="0">
              <a:buNone/>
            </a:pPr>
            <a:r>
              <a:rPr lang="en-US" sz="1100" b="1" spc="200" kern="0" dirty="0">
                <a:solidFill>
                  <a:srgbClr val="4B5878"/>
                </a:solidFill>
                <a:latin typeface="Calibri" pitchFamily="34" charset="0"/>
                <a:ea typeface="Calibri" pitchFamily="34" charset="-122"/>
                <a:cs typeface="Calibri" pitchFamily="34" charset="-120"/>
              </a:rPr>
              <a:t>CURRENT PROOF</a:t>
            </a:r>
            <a:endParaRPr lang="en-US" sz="1100" dirty="0"/>
          </a:p>
        </p:txBody>
      </p:sp>
      <p:sp>
        <p:nvSpPr>
          <p:cNvPr id="21" name="Text 18"/>
          <p:cNvSpPr/>
          <p:nvPr/>
        </p:nvSpPr>
        <p:spPr>
          <a:xfrm>
            <a:off x="6263640" y="3456432"/>
            <a:ext cx="5394960" cy="1828800"/>
          </a:xfrm>
          <a:prstGeom prst="rect">
            <a:avLst/>
          </a:prstGeom>
          <a:noFill/>
          <a:ln/>
        </p:spPr>
        <p:txBody>
          <a:bodyPr wrap="square" rtlCol="0" anchor="t"/>
          <a:lstStyle/>
          <a:p>
            <a:pPr algn="l" marL="177800" indent="-177800">
              <a:lnSpc>
                <a:spcPct val="108000"/>
              </a:lnSpc>
              <a:spcAft>
                <a:spcPts val="1100"/>
              </a:spcAft>
              <a:buSzPct val="100000"/>
              <a:buChar char="▪"/>
            </a:pPr>
            <a:r>
              <a:rPr lang="en-US" sz="1300" dirty="0">
                <a:solidFill>
                  <a:srgbClr val="F1F5F9"/>
                </a:solidFill>
                <a:latin typeface="Calibri" pitchFamily="34" charset="0"/>
                <a:ea typeface="Calibri" pitchFamily="34" charset="-122"/>
                <a:cs typeface="Calibri" pitchFamily="34" charset="-120"/>
              </a:rPr>
              <a:t>3 Nebius LoRA jobs — all succeeded</a:t>
            </a:r>
            <a:endParaRPr lang="en-US" sz="1300" dirty="0"/>
          </a:p>
          <a:p>
            <a:pPr algn="l" marL="177800" indent="-177800">
              <a:lnSpc>
                <a:spcPct val="108000"/>
              </a:lnSpc>
              <a:spcAft>
                <a:spcPts val="1100"/>
              </a:spcAft>
              <a:buSzPct val="100000"/>
              <a:buChar char="▪"/>
            </a:pPr>
            <a:r>
              <a:rPr lang="en-US" sz="1300" dirty="0">
                <a:solidFill>
                  <a:srgbClr val="F1F5F9"/>
                </a:solidFill>
                <a:latin typeface="Calibri" pitchFamily="34" charset="0"/>
                <a:ea typeface="Calibri" pitchFamily="34" charset="-122"/>
                <a:cs typeface="Calibri" pitchFamily="34" charset="-120"/>
              </a:rPr>
              <a:t>200 versioned examples · immutable run history</a:t>
            </a:r>
            <a:endParaRPr lang="en-US" sz="1300" dirty="0"/>
          </a:p>
          <a:p>
            <a:pPr algn="l" marL="177800" indent="-177800">
              <a:lnSpc>
                <a:spcPct val="108000"/>
              </a:lnSpc>
              <a:spcAft>
                <a:spcPts val="1100"/>
              </a:spcAft>
              <a:buSzPct val="100000"/>
              <a:buChar char="▪"/>
            </a:pPr>
            <a:r>
              <a:rPr lang="en-US" sz="1300" dirty="0">
                <a:solidFill>
                  <a:srgbClr val="F1F5F9"/>
                </a:solidFill>
                <a:latin typeface="Calibri" pitchFamily="34" charset="0"/>
                <a:ea typeface="Calibri" pitchFamily="34" charset="-122"/>
                <a:cs typeface="Calibri" pitchFamily="34" charset="-120"/>
              </a:rPr>
              <a:t>Voice Q&amp;A cites 16 approved project sources</a:t>
            </a:r>
            <a:endParaRPr lang="en-US" sz="1300" dirty="0"/>
          </a:p>
        </p:txBody>
      </p:sp>
      <p:sp>
        <p:nvSpPr>
          <p:cNvPr id="22" name="Shape 19"/>
          <p:cNvSpPr/>
          <p:nvPr/>
        </p:nvSpPr>
        <p:spPr>
          <a:xfrm>
            <a:off x="502920" y="5074920"/>
            <a:ext cx="11183112" cy="731520"/>
          </a:xfrm>
          <a:prstGeom prst="roundRect">
            <a:avLst>
              <a:gd name="adj" fmla="val 12500"/>
            </a:avLst>
          </a:prstGeom>
          <a:solidFill>
            <a:srgbClr val="121B2E"/>
          </a:solidFill>
          <a:ln w="12700">
            <a:solidFill>
              <a:srgbClr val="263353"/>
            </a:solidFill>
            <a:prstDash val="solid"/>
          </a:ln>
        </p:spPr>
      </p:sp>
      <p:sp>
        <p:nvSpPr>
          <p:cNvPr id="23" name="Text 20"/>
          <p:cNvSpPr/>
          <p:nvPr/>
        </p:nvSpPr>
        <p:spPr>
          <a:xfrm>
            <a:off x="777240" y="5074920"/>
            <a:ext cx="10634472" cy="731520"/>
          </a:xfrm>
          <a:prstGeom prst="rect">
            <a:avLst/>
          </a:prstGeom>
          <a:noFill/>
          <a:ln/>
        </p:spPr>
        <p:txBody>
          <a:bodyPr wrap="square" rtlCol="0" anchor="ctr"/>
          <a:lstStyle/>
          <a:p>
            <a:pPr algn="ctr" indent="0" marL="0">
              <a:buNone/>
            </a:pPr>
            <a:r>
              <a:rPr lang="en-US" sz="1550" b="1" i="1" dirty="0">
                <a:solidFill>
                  <a:srgbClr val="22D3EE"/>
                </a:solidFill>
                <a:latin typeface="Calibri" pitchFamily="34" charset="0"/>
                <a:ea typeface="Calibri" pitchFamily="34" charset="-122"/>
                <a:cs typeface="Calibri" pitchFamily="34" charset="-120"/>
              </a:rPr>
              <a:t>“Evidence-linked, reviewable, and budget-gated.”</a:t>
            </a:r>
            <a:endParaRPr lang="en-US" sz="1550" dirty="0"/>
          </a:p>
        </p:txBody>
      </p:sp>
      <p:sp>
        <p:nvSpPr>
          <p:cNvPr id="24" name="Text 21"/>
          <p:cNvSpPr/>
          <p:nvPr/>
        </p:nvSpPr>
        <p:spPr>
          <a:xfrm>
            <a:off x="502920" y="6528816"/>
            <a:ext cx="2743200" cy="256032"/>
          </a:xfrm>
          <a:prstGeom prst="rect">
            <a:avLst/>
          </a:prstGeom>
          <a:noFill/>
          <a:ln/>
        </p:spPr>
        <p:txBody>
          <a:bodyPr wrap="square" rtlCol="0" anchor="ctr"/>
          <a:lstStyle/>
          <a:p>
            <a:pPr indent="0" marL="0">
              <a:buNone/>
            </a:pPr>
            <a:r>
              <a:rPr lang="en-US" sz="900" b="1" spc="200" kern="0" dirty="0">
                <a:solidFill>
                  <a:srgbClr val="4B5878"/>
                </a:solidFill>
                <a:latin typeface="Calibri" pitchFamily="34" charset="0"/>
                <a:ea typeface="Calibri" pitchFamily="34" charset="-122"/>
                <a:cs typeface="Calibri" pitchFamily="34" charset="-120"/>
              </a:rPr>
              <a:t>EMERGEGPT</a:t>
            </a:r>
            <a:endParaRPr lang="en-US" sz="900" dirty="0"/>
          </a:p>
        </p:txBody>
      </p:sp>
      <p:sp>
        <p:nvSpPr>
          <p:cNvPr id="25" name="Text 22"/>
          <p:cNvSpPr/>
          <p:nvPr/>
        </p:nvSpPr>
        <p:spPr>
          <a:xfrm>
            <a:off x="10454335" y="6528816"/>
            <a:ext cx="1234440" cy="256032"/>
          </a:xfrm>
          <a:prstGeom prst="rect">
            <a:avLst/>
          </a:prstGeom>
          <a:noFill/>
          <a:ln/>
        </p:spPr>
        <p:txBody>
          <a:bodyPr wrap="square" rtlCol="0" anchor="ctr"/>
          <a:lstStyle/>
          <a:p>
            <a:pPr algn="r" indent="0" marL="0">
              <a:buNone/>
            </a:pPr>
            <a:r>
              <a:rPr lang="en-US" sz="900" dirty="0">
                <a:solidFill>
                  <a:srgbClr val="4B5878"/>
                </a:solidFill>
                <a:latin typeface="Calibri" pitchFamily="34" charset="0"/>
                <a:ea typeface="Calibri" pitchFamily="34" charset="-122"/>
                <a:cs typeface="Calibri" pitchFamily="34" charset="-120"/>
              </a:rPr>
              <a:t>04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Text 0"/>
          <p:cNvSpPr/>
          <p:nvPr/>
        </p:nvSpPr>
        <p:spPr>
          <a:xfrm>
            <a:off x="502920" y="365760"/>
            <a:ext cx="8229600" cy="256032"/>
          </a:xfrm>
          <a:prstGeom prst="rect">
            <a:avLst/>
          </a:prstGeom>
          <a:noFill/>
          <a:ln/>
        </p:spPr>
        <p:txBody>
          <a:bodyPr wrap="square"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04 · COMMERCIAL MODEL</a:t>
            </a:r>
            <a:endParaRPr lang="en-US" sz="1150" dirty="0"/>
          </a:p>
        </p:txBody>
      </p:sp>
      <p:sp>
        <p:nvSpPr>
          <p:cNvPr id="3" name="Text 1"/>
          <p:cNvSpPr/>
          <p:nvPr/>
        </p:nvSpPr>
        <p:spPr>
          <a:xfrm>
            <a:off x="484632" y="658368"/>
            <a:ext cx="10607040" cy="640080"/>
          </a:xfrm>
          <a:prstGeom prst="rect">
            <a:avLst/>
          </a:prstGeom>
          <a:noFill/>
          <a:ln/>
        </p:spPr>
        <p:txBody>
          <a:bodyPr wrap="square" rtlCol="0" anchor="t"/>
          <a:lstStyle/>
          <a:p>
            <a:pPr algn="l" indent="0" marL="0">
              <a:lnSpc>
                <a:spcPct val="105000"/>
              </a:lnSpc>
              <a:buNone/>
            </a:pPr>
            <a:r>
              <a:rPr lang="en-US" sz="2700" b="1" dirty="0">
                <a:solidFill>
                  <a:srgbClr val="F1F5F9"/>
                </a:solidFill>
                <a:latin typeface="Calibri" pitchFamily="34" charset="0"/>
                <a:ea typeface="Calibri" pitchFamily="34" charset="-122"/>
                <a:cs typeface="Calibri" pitchFamily="34" charset="-120"/>
              </a:rPr>
              <a:t>Pilot Fast. Scale Only After Proof.</a:t>
            </a:r>
            <a:endParaRPr lang="en-US" sz="2700" dirty="0"/>
          </a:p>
        </p:txBody>
      </p:sp>
      <p:graphicFrame>
        <p:nvGraphicFramePr>
          <p:cNvPr id="4" name="Chart 0" descr=""/>
          <p:cNvGraphicFramePr/>
          <p:nvPr/>
        </p:nvGraphicFramePr>
        <p:xfrm>
          <a:off x="502920" y="1691640"/>
          <a:ext cx="6675120" cy="3246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956048"/>
            <a:ext cx="6675120" cy="237744"/>
          </a:xfrm>
          <a:prstGeom prst="rect">
            <a:avLst/>
          </a:prstGeom>
          <a:noFill/>
          <a:ln/>
        </p:spPr>
        <p:txBody>
          <a:bodyPr wrap="square" rtlCol="0" anchor="ctr"/>
          <a:lstStyle/>
          <a:p>
            <a:pPr algn="ctr" indent="0" marL="0">
              <a:buNone/>
            </a:pPr>
            <a:r>
              <a:rPr lang="en-US" sz="1050" i="1" dirty="0">
                <a:solidFill>
                  <a:srgbClr val="8592AD"/>
                </a:solidFill>
                <a:latin typeface="Calibri" pitchFamily="34" charset="0"/>
                <a:ea typeface="Calibri" pitchFamily="34" charset="-122"/>
                <a:cs typeface="Calibri" pitchFamily="34" charset="-120"/>
              </a:rPr>
              <a:t>Recommended service pricing · cloud and model use billed separately</a:t>
            </a:r>
            <a:endParaRPr lang="en-US" sz="1050" dirty="0"/>
          </a:p>
        </p:txBody>
      </p:sp>
      <p:sp>
        <p:nvSpPr>
          <p:cNvPr id="6" name="Shape 3"/>
          <p:cNvSpPr/>
          <p:nvPr/>
        </p:nvSpPr>
        <p:spPr>
          <a:xfrm>
            <a:off x="7452360" y="1691640"/>
            <a:ext cx="4233672" cy="1600200"/>
          </a:xfrm>
          <a:prstGeom prst="roundRect">
            <a:avLst>
              <a:gd name="adj" fmla="val 5714"/>
            </a:avLst>
          </a:prstGeom>
          <a:solidFill>
            <a:srgbClr val="17223C"/>
          </a:solidFill>
          <a:ln w="12700">
            <a:solidFill>
              <a:srgbClr val="263353"/>
            </a:solidFill>
            <a:prstDash val="solid"/>
          </a:ln>
        </p:spPr>
      </p:sp>
      <p:sp>
        <p:nvSpPr>
          <p:cNvPr id="7" name="Text 4"/>
          <p:cNvSpPr/>
          <p:nvPr/>
        </p:nvSpPr>
        <p:spPr>
          <a:xfrm>
            <a:off x="7680960" y="1819656"/>
            <a:ext cx="3840480" cy="219456"/>
          </a:xfrm>
          <a:prstGeom prst="rect">
            <a:avLst/>
          </a:prstGeom>
          <a:noFill/>
          <a:ln/>
        </p:spPr>
        <p:txBody>
          <a:bodyPr wrap="square" rtlCol="0" anchor="ctr"/>
          <a:lstStyle/>
          <a:p>
            <a:pPr indent="0" marL="0">
              <a:buNone/>
            </a:pPr>
            <a:r>
              <a:rPr lang="en-US" sz="1000" b="1" spc="130" kern="0" dirty="0">
                <a:solidFill>
                  <a:srgbClr val="4B5878"/>
                </a:solidFill>
                <a:latin typeface="Calibri" pitchFamily="34" charset="0"/>
                <a:ea typeface="Calibri" pitchFamily="34" charset="-122"/>
                <a:cs typeface="Calibri" pitchFamily="34" charset="-120"/>
              </a:rPr>
              <a:t>GOVERNED PILOT</a:t>
            </a:r>
            <a:endParaRPr lang="en-US" sz="1000" dirty="0"/>
          </a:p>
        </p:txBody>
      </p:sp>
      <p:sp>
        <p:nvSpPr>
          <p:cNvPr id="8" name="Text 5"/>
          <p:cNvSpPr/>
          <p:nvPr/>
        </p:nvSpPr>
        <p:spPr>
          <a:xfrm>
            <a:off x="7680960" y="2103120"/>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DURATION</a:t>
            </a:r>
            <a:endParaRPr lang="en-US" sz="900" dirty="0"/>
          </a:p>
        </p:txBody>
      </p:sp>
      <p:sp>
        <p:nvSpPr>
          <p:cNvPr id="9" name="Text 6"/>
          <p:cNvSpPr/>
          <p:nvPr/>
        </p:nvSpPr>
        <p:spPr>
          <a:xfrm>
            <a:off x="9006840" y="2103120"/>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6–10 weeks</a:t>
            </a:r>
            <a:endParaRPr lang="en-US" sz="1100" dirty="0"/>
          </a:p>
        </p:txBody>
      </p:sp>
      <p:sp>
        <p:nvSpPr>
          <p:cNvPr id="10" name="Text 7"/>
          <p:cNvSpPr/>
          <p:nvPr/>
        </p:nvSpPr>
        <p:spPr>
          <a:xfrm>
            <a:off x="7680960" y="2386584"/>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SCOPE</a:t>
            </a:r>
            <a:endParaRPr lang="en-US" sz="900" dirty="0"/>
          </a:p>
        </p:txBody>
      </p:sp>
      <p:sp>
        <p:nvSpPr>
          <p:cNvPr id="11" name="Text 8"/>
          <p:cNvSpPr/>
          <p:nvPr/>
        </p:nvSpPr>
        <p:spPr>
          <a:xfrm>
            <a:off x="9006840" y="2386584"/>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1 category · 1–2 catalogs</a:t>
            </a:r>
            <a:endParaRPr lang="en-US" sz="1100" dirty="0"/>
          </a:p>
        </p:txBody>
      </p:sp>
      <p:sp>
        <p:nvSpPr>
          <p:cNvPr id="12" name="Text 9"/>
          <p:cNvSpPr/>
          <p:nvPr/>
        </p:nvSpPr>
        <p:spPr>
          <a:xfrm>
            <a:off x="7680960" y="2670048"/>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PRICE</a:t>
            </a:r>
            <a:endParaRPr lang="en-US" sz="900" dirty="0"/>
          </a:p>
        </p:txBody>
      </p:sp>
      <p:sp>
        <p:nvSpPr>
          <p:cNvPr id="13" name="Text 10"/>
          <p:cNvSpPr/>
          <p:nvPr/>
        </p:nvSpPr>
        <p:spPr>
          <a:xfrm>
            <a:off x="9006840" y="2670048"/>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$50K–$125K</a:t>
            </a:r>
            <a:endParaRPr lang="en-US" sz="1100" dirty="0"/>
          </a:p>
        </p:txBody>
      </p:sp>
      <p:sp>
        <p:nvSpPr>
          <p:cNvPr id="14" name="Text 11"/>
          <p:cNvSpPr/>
          <p:nvPr/>
        </p:nvSpPr>
        <p:spPr>
          <a:xfrm>
            <a:off x="7680960" y="2953512"/>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OUTCOME</a:t>
            </a:r>
            <a:endParaRPr lang="en-US" sz="900" dirty="0"/>
          </a:p>
        </p:txBody>
      </p:sp>
      <p:sp>
        <p:nvSpPr>
          <p:cNvPr id="15" name="Text 12"/>
          <p:cNvSpPr/>
          <p:nvPr/>
        </p:nvSpPr>
        <p:spPr>
          <a:xfrm>
            <a:off x="9006840" y="2953512"/>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measured business case</a:t>
            </a:r>
            <a:endParaRPr lang="en-US" sz="1100" dirty="0"/>
          </a:p>
        </p:txBody>
      </p:sp>
      <p:sp>
        <p:nvSpPr>
          <p:cNvPr id="16" name="Shape 13"/>
          <p:cNvSpPr/>
          <p:nvPr/>
        </p:nvSpPr>
        <p:spPr>
          <a:xfrm>
            <a:off x="7452360" y="3401568"/>
            <a:ext cx="4233672" cy="1600200"/>
          </a:xfrm>
          <a:prstGeom prst="roundRect">
            <a:avLst>
              <a:gd name="adj" fmla="val 5714"/>
            </a:avLst>
          </a:prstGeom>
          <a:solidFill>
            <a:srgbClr val="121B2E"/>
          </a:solidFill>
          <a:ln w="12700">
            <a:solidFill>
              <a:srgbClr val="263353"/>
            </a:solidFill>
            <a:prstDash val="solid"/>
          </a:ln>
        </p:spPr>
      </p:sp>
      <p:sp>
        <p:nvSpPr>
          <p:cNvPr id="17" name="Text 14"/>
          <p:cNvSpPr/>
          <p:nvPr/>
        </p:nvSpPr>
        <p:spPr>
          <a:xfrm>
            <a:off x="7680960" y="3529584"/>
            <a:ext cx="3840480" cy="219456"/>
          </a:xfrm>
          <a:prstGeom prst="rect">
            <a:avLst/>
          </a:prstGeom>
          <a:noFill/>
          <a:ln/>
        </p:spPr>
        <p:txBody>
          <a:bodyPr wrap="square" rtlCol="0" anchor="ctr"/>
          <a:lstStyle/>
          <a:p>
            <a:pPr indent="0" marL="0">
              <a:buNone/>
            </a:pPr>
            <a:r>
              <a:rPr lang="en-US" sz="1000" b="1" spc="130" kern="0" dirty="0">
                <a:solidFill>
                  <a:srgbClr val="4B5878"/>
                </a:solidFill>
                <a:latin typeface="Calibri" pitchFamily="34" charset="0"/>
                <a:ea typeface="Calibri" pitchFamily="34" charset="-122"/>
                <a:cs typeface="Calibri" pitchFamily="34" charset="-120"/>
              </a:rPr>
              <a:t>PRODUCTION PLATFORM</a:t>
            </a:r>
            <a:endParaRPr lang="en-US" sz="1000" dirty="0"/>
          </a:p>
        </p:txBody>
      </p:sp>
      <p:sp>
        <p:nvSpPr>
          <p:cNvPr id="18" name="Text 15"/>
          <p:cNvSpPr/>
          <p:nvPr/>
        </p:nvSpPr>
        <p:spPr>
          <a:xfrm>
            <a:off x="7680960" y="3813048"/>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SUBSCRIPTION</a:t>
            </a:r>
            <a:endParaRPr lang="en-US" sz="900" dirty="0"/>
          </a:p>
        </p:txBody>
      </p:sp>
      <p:sp>
        <p:nvSpPr>
          <p:cNvPr id="19" name="Text 16"/>
          <p:cNvSpPr/>
          <p:nvPr/>
        </p:nvSpPr>
        <p:spPr>
          <a:xfrm>
            <a:off x="9006840" y="3813048"/>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$150K–$500K / year</a:t>
            </a:r>
            <a:endParaRPr lang="en-US" sz="1100" dirty="0"/>
          </a:p>
        </p:txBody>
      </p:sp>
      <p:sp>
        <p:nvSpPr>
          <p:cNvPr id="20" name="Text 17"/>
          <p:cNvSpPr/>
          <p:nvPr/>
        </p:nvSpPr>
        <p:spPr>
          <a:xfrm>
            <a:off x="7680960" y="4096512"/>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SCALE</a:t>
            </a:r>
            <a:endParaRPr lang="en-US" sz="900" dirty="0"/>
          </a:p>
        </p:txBody>
      </p:sp>
      <p:sp>
        <p:nvSpPr>
          <p:cNvPr id="21" name="Text 18"/>
          <p:cNvSpPr/>
          <p:nvPr/>
        </p:nvSpPr>
        <p:spPr>
          <a:xfrm>
            <a:off x="9006840" y="4096512"/>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multi-team · recurring runs</a:t>
            </a:r>
            <a:endParaRPr lang="en-US" sz="1100" dirty="0"/>
          </a:p>
        </p:txBody>
      </p:sp>
      <p:sp>
        <p:nvSpPr>
          <p:cNvPr id="22" name="Text 19"/>
          <p:cNvSpPr/>
          <p:nvPr/>
        </p:nvSpPr>
        <p:spPr>
          <a:xfrm>
            <a:off x="7680960" y="4379976"/>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CONTROLS</a:t>
            </a:r>
            <a:endParaRPr lang="en-US" sz="900" dirty="0"/>
          </a:p>
        </p:txBody>
      </p:sp>
      <p:sp>
        <p:nvSpPr>
          <p:cNvPr id="23" name="Text 20"/>
          <p:cNvSpPr/>
          <p:nvPr/>
        </p:nvSpPr>
        <p:spPr>
          <a:xfrm>
            <a:off x="9006840" y="4379976"/>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SSO · approvals · audit</a:t>
            </a:r>
            <a:endParaRPr lang="en-US" sz="1100" dirty="0"/>
          </a:p>
        </p:txBody>
      </p:sp>
      <p:sp>
        <p:nvSpPr>
          <p:cNvPr id="24" name="Text 21"/>
          <p:cNvSpPr/>
          <p:nvPr/>
        </p:nvSpPr>
        <p:spPr>
          <a:xfrm>
            <a:off x="7680960" y="4663440"/>
            <a:ext cx="1417320" cy="256032"/>
          </a:xfrm>
          <a:prstGeom prst="rect">
            <a:avLst/>
          </a:prstGeom>
          <a:noFill/>
          <a:ln/>
        </p:spPr>
        <p:txBody>
          <a:bodyPr wrap="square" rtlCol="0" anchor="t"/>
          <a:lstStyle/>
          <a:p>
            <a:pPr indent="0" marL="0">
              <a:buNone/>
            </a:pPr>
            <a:r>
              <a:rPr lang="en-US" sz="900" b="1" dirty="0">
                <a:solidFill>
                  <a:srgbClr val="8592AD"/>
                </a:solidFill>
                <a:latin typeface="Calibri" pitchFamily="34" charset="0"/>
                <a:ea typeface="Calibri" pitchFamily="34" charset="-122"/>
                <a:cs typeface="Calibri" pitchFamily="34" charset="-120"/>
              </a:rPr>
              <a:t>COMPLEX ROLLOUT</a:t>
            </a:r>
            <a:endParaRPr lang="en-US" sz="900" dirty="0"/>
          </a:p>
        </p:txBody>
      </p:sp>
      <p:sp>
        <p:nvSpPr>
          <p:cNvPr id="25" name="Text 22"/>
          <p:cNvSpPr/>
          <p:nvPr/>
        </p:nvSpPr>
        <p:spPr>
          <a:xfrm>
            <a:off x="9006840" y="4663440"/>
            <a:ext cx="2560320" cy="256032"/>
          </a:xfrm>
          <a:prstGeom prst="rect">
            <a:avLst/>
          </a:prstGeom>
          <a:noFill/>
          <a:ln/>
        </p:spPr>
        <p:txBody>
          <a:bodyPr wrap="square" rtlCol="0" anchor="t"/>
          <a:lstStyle/>
          <a:p>
            <a:pPr indent="0" marL="0">
              <a:buNone/>
            </a:pPr>
            <a:r>
              <a:rPr lang="en-US" sz="1100" b="1" dirty="0">
                <a:solidFill>
                  <a:srgbClr val="F1F5F9"/>
                </a:solidFill>
                <a:latin typeface="Calibri" pitchFamily="34" charset="0"/>
                <a:ea typeface="Calibri" pitchFamily="34" charset="-122"/>
                <a:cs typeface="Calibri" pitchFamily="34" charset="-120"/>
              </a:rPr>
              <a:t>$500K–$1.5M first year</a:t>
            </a:r>
            <a:endParaRPr lang="en-US" sz="1100" dirty="0"/>
          </a:p>
        </p:txBody>
      </p:sp>
      <p:sp>
        <p:nvSpPr>
          <p:cNvPr id="26" name="Shape 23"/>
          <p:cNvSpPr/>
          <p:nvPr/>
        </p:nvSpPr>
        <p:spPr>
          <a:xfrm>
            <a:off x="502920" y="5285232"/>
            <a:ext cx="11183112" cy="1051560"/>
          </a:xfrm>
          <a:prstGeom prst="roundRect">
            <a:avLst>
              <a:gd name="adj" fmla="val 8696"/>
            </a:avLst>
          </a:prstGeom>
          <a:solidFill>
            <a:srgbClr val="1A1533"/>
          </a:solidFill>
          <a:ln w="12700">
            <a:solidFill>
              <a:srgbClr val="A78BFA"/>
            </a:solidFill>
            <a:prstDash val="solid"/>
          </a:ln>
        </p:spPr>
      </p:sp>
      <p:sp>
        <p:nvSpPr>
          <p:cNvPr id="27" name="Text 24"/>
          <p:cNvSpPr/>
          <p:nvPr/>
        </p:nvSpPr>
        <p:spPr>
          <a:xfrm>
            <a:off x="822960" y="5285232"/>
            <a:ext cx="10543032" cy="1051560"/>
          </a:xfrm>
          <a:prstGeom prst="rect">
            <a:avLst/>
          </a:prstGeom>
          <a:noFill/>
          <a:ln/>
        </p:spPr>
        <p:txBody>
          <a:bodyPr wrap="square" rtlCol="0" anchor="ctr"/>
          <a:lstStyle/>
          <a:p>
            <a:pPr algn="ctr" indent="0" marL="0">
              <a:lnSpc>
                <a:spcPct val="120000"/>
              </a:lnSpc>
              <a:spcAft>
                <a:spcPts val="400"/>
              </a:spcAft>
              <a:buNone/>
            </a:pPr>
            <a:r>
              <a:rPr lang="en-US" sz="1200" i="1" dirty="0">
                <a:solidFill>
                  <a:srgbClr val="8592AD"/>
                </a:solidFill>
                <a:latin typeface="Calibri" pitchFamily="34" charset="0"/>
                <a:ea typeface="Calibri" pitchFamily="34" charset="-122"/>
                <a:cs typeface="Calibri" pitchFamily="34" charset="-120"/>
              </a:rPr>
              <a:t>Indicative packaging—final price follows scope, risk, and integrations.</a:t>
            </a:r>
            <a:endParaRPr lang="en-US" sz="1200" dirty="0"/>
          </a:p>
          <a:p>
            <a:pPr algn="ctr" indent="0" marL="0">
              <a:lnSpc>
                <a:spcPct val="120000"/>
              </a:lnSpc>
              <a:spcAft>
                <a:spcPts val="400"/>
              </a:spcAft>
              <a:buNone/>
            </a:pPr>
            <a:r>
              <a:rPr lang="en-US" sz="1400" b="1" i="1" dirty="0">
                <a:solidFill>
                  <a:srgbClr val="F1F5F9"/>
                </a:solidFill>
                <a:latin typeface="Calibri" pitchFamily="34" charset="0"/>
                <a:ea typeface="Calibri" pitchFamily="34" charset="-122"/>
                <a:cs typeface="Calibri" pitchFamily="34" charset="-120"/>
              </a:rPr>
              <a:t>Enterprises buy integration, governance, evaluation, and accountability—not GPU minutes alone.</a:t>
            </a:r>
            <a:endParaRPr lang="en-US" sz="1200" dirty="0"/>
          </a:p>
        </p:txBody>
      </p:sp>
      <p:sp>
        <p:nvSpPr>
          <p:cNvPr id="28" name="Text 25"/>
          <p:cNvSpPr/>
          <p:nvPr/>
        </p:nvSpPr>
        <p:spPr>
          <a:xfrm>
            <a:off x="502920" y="6528816"/>
            <a:ext cx="2743200" cy="256032"/>
          </a:xfrm>
          <a:prstGeom prst="rect">
            <a:avLst/>
          </a:prstGeom>
          <a:noFill/>
          <a:ln/>
        </p:spPr>
        <p:txBody>
          <a:bodyPr wrap="square" rtlCol="0" anchor="ctr"/>
          <a:lstStyle/>
          <a:p>
            <a:pPr indent="0" marL="0">
              <a:buNone/>
            </a:pPr>
            <a:r>
              <a:rPr lang="en-US" sz="900" b="1" spc="200" kern="0" dirty="0">
                <a:solidFill>
                  <a:srgbClr val="4B5878"/>
                </a:solidFill>
                <a:latin typeface="Calibri" pitchFamily="34" charset="0"/>
                <a:ea typeface="Calibri" pitchFamily="34" charset="-122"/>
                <a:cs typeface="Calibri" pitchFamily="34" charset="-120"/>
              </a:rPr>
              <a:t>EMERGEGPT</a:t>
            </a:r>
            <a:endParaRPr lang="en-US" sz="900" dirty="0"/>
          </a:p>
        </p:txBody>
      </p:sp>
      <p:sp>
        <p:nvSpPr>
          <p:cNvPr id="29" name="Text 26"/>
          <p:cNvSpPr/>
          <p:nvPr/>
        </p:nvSpPr>
        <p:spPr>
          <a:xfrm>
            <a:off x="10454335" y="6528816"/>
            <a:ext cx="1234440" cy="256032"/>
          </a:xfrm>
          <a:prstGeom prst="rect">
            <a:avLst/>
          </a:prstGeom>
          <a:noFill/>
          <a:ln/>
        </p:spPr>
        <p:txBody>
          <a:bodyPr wrap="square" rtlCol="0" anchor="ctr"/>
          <a:lstStyle/>
          <a:p>
            <a:pPr algn="r" indent="0" marL="0">
              <a:buNone/>
            </a:pPr>
            <a:r>
              <a:rPr lang="en-US" sz="900" dirty="0">
                <a:solidFill>
                  <a:srgbClr val="4B5878"/>
                </a:solidFill>
                <a:latin typeface="Calibri" pitchFamily="34" charset="0"/>
                <a:ea typeface="Calibri" pitchFamily="34" charset="-122"/>
                <a:cs typeface="Calibri" pitchFamily="34" charset="-120"/>
              </a:rPr>
              <a:t>05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9653668" y="55655"/>
            <a:ext cx="511273" cy="662096"/>
          </a:xfrm>
          <a:prstGeom prst="line">
            <a:avLst/>
          </a:prstGeom>
          <a:noFill/>
          <a:ln w="6350">
            <a:solidFill>
              <a:srgbClr val="141E36"/>
            </a:solidFill>
            <a:prstDash val="solid"/>
          </a:ln>
        </p:spPr>
      </p:sp>
      <p:sp>
        <p:nvSpPr>
          <p:cNvPr id="3" name="Shape 1"/>
          <p:cNvSpPr/>
          <p:nvPr/>
        </p:nvSpPr>
        <p:spPr>
          <a:xfrm>
            <a:off x="9074998" y="55655"/>
            <a:ext cx="1089944" cy="736492"/>
          </a:xfrm>
          <a:prstGeom prst="line">
            <a:avLst/>
          </a:prstGeom>
          <a:noFill/>
          <a:ln w="6350">
            <a:solidFill>
              <a:srgbClr val="141E36"/>
            </a:solidFill>
            <a:prstDash val="solid"/>
          </a:ln>
        </p:spPr>
      </p:sp>
      <p:sp>
        <p:nvSpPr>
          <p:cNvPr id="4" name="Shape 2"/>
          <p:cNvSpPr/>
          <p:nvPr/>
        </p:nvSpPr>
        <p:spPr>
          <a:xfrm>
            <a:off x="9092978" y="55655"/>
            <a:ext cx="1071964" cy="759457"/>
          </a:xfrm>
          <a:prstGeom prst="line">
            <a:avLst/>
          </a:prstGeom>
          <a:noFill/>
          <a:ln w="6350">
            <a:solidFill>
              <a:srgbClr val="141E36"/>
            </a:solidFill>
            <a:prstDash val="solid"/>
          </a:ln>
        </p:spPr>
      </p:sp>
      <p:sp>
        <p:nvSpPr>
          <p:cNvPr id="5" name="Shape 3"/>
          <p:cNvSpPr/>
          <p:nvPr/>
        </p:nvSpPr>
        <p:spPr>
          <a:xfrm>
            <a:off x="9092978" y="803019"/>
            <a:ext cx="489596" cy="12093"/>
          </a:xfrm>
          <a:prstGeom prst="line">
            <a:avLst/>
          </a:prstGeom>
          <a:noFill/>
          <a:ln w="6350">
            <a:solidFill>
              <a:srgbClr val="141E36"/>
            </a:solidFill>
            <a:prstDash val="solid"/>
          </a:ln>
        </p:spPr>
      </p:sp>
      <p:sp>
        <p:nvSpPr>
          <p:cNvPr id="6" name="Shape 4"/>
          <p:cNvSpPr/>
          <p:nvPr/>
        </p:nvSpPr>
        <p:spPr>
          <a:xfrm>
            <a:off x="6091870" y="73588"/>
            <a:ext cx="40234" cy="40234"/>
          </a:xfrm>
          <a:prstGeom prst="ellipse">
            <a:avLst/>
          </a:prstGeom>
          <a:solidFill>
            <a:srgbClr val="141E36"/>
          </a:solidFill>
          <a:ln w="12700">
            <a:solidFill>
              <a:srgbClr val="141E36"/>
            </a:solidFill>
            <a:prstDash val="solid"/>
          </a:ln>
        </p:spPr>
      </p:sp>
      <p:sp>
        <p:nvSpPr>
          <p:cNvPr id="7" name="Shape 5"/>
          <p:cNvSpPr/>
          <p:nvPr/>
        </p:nvSpPr>
        <p:spPr>
          <a:xfrm>
            <a:off x="10144824" y="35538"/>
            <a:ext cx="40234" cy="40234"/>
          </a:xfrm>
          <a:prstGeom prst="ellipse">
            <a:avLst/>
          </a:prstGeom>
          <a:solidFill>
            <a:srgbClr val="141E36"/>
          </a:solidFill>
          <a:ln w="12700">
            <a:solidFill>
              <a:srgbClr val="141E36"/>
            </a:solidFill>
            <a:prstDash val="solid"/>
          </a:ln>
        </p:spPr>
      </p:sp>
      <p:sp>
        <p:nvSpPr>
          <p:cNvPr id="8" name="Shape 6"/>
          <p:cNvSpPr/>
          <p:nvPr/>
        </p:nvSpPr>
        <p:spPr>
          <a:xfrm>
            <a:off x="9562457" y="782902"/>
            <a:ext cx="40234" cy="40234"/>
          </a:xfrm>
          <a:prstGeom prst="ellipse">
            <a:avLst/>
          </a:prstGeom>
          <a:solidFill>
            <a:srgbClr val="141E36"/>
          </a:solidFill>
          <a:ln w="12700">
            <a:solidFill>
              <a:srgbClr val="141E36"/>
            </a:solidFill>
            <a:prstDash val="solid"/>
          </a:ln>
        </p:spPr>
      </p:sp>
      <p:sp>
        <p:nvSpPr>
          <p:cNvPr id="9" name="Shape 7"/>
          <p:cNvSpPr/>
          <p:nvPr/>
        </p:nvSpPr>
        <p:spPr>
          <a:xfrm>
            <a:off x="6703412" y="165437"/>
            <a:ext cx="40234" cy="40234"/>
          </a:xfrm>
          <a:prstGeom prst="ellipse">
            <a:avLst/>
          </a:prstGeom>
          <a:solidFill>
            <a:srgbClr val="141E36"/>
          </a:solidFill>
          <a:ln w="12700">
            <a:solidFill>
              <a:srgbClr val="141E36"/>
            </a:solidFill>
            <a:prstDash val="solid"/>
          </a:ln>
        </p:spPr>
      </p:sp>
      <p:sp>
        <p:nvSpPr>
          <p:cNvPr id="10" name="Shape 8"/>
          <p:cNvSpPr/>
          <p:nvPr/>
        </p:nvSpPr>
        <p:spPr>
          <a:xfrm>
            <a:off x="3024520" y="-8356"/>
            <a:ext cx="40234" cy="40234"/>
          </a:xfrm>
          <a:prstGeom prst="ellipse">
            <a:avLst/>
          </a:prstGeom>
          <a:solidFill>
            <a:srgbClr val="141E36"/>
          </a:solidFill>
          <a:ln w="12700">
            <a:solidFill>
              <a:srgbClr val="141E36"/>
            </a:solidFill>
            <a:prstDash val="solid"/>
          </a:ln>
        </p:spPr>
      </p:sp>
      <p:sp>
        <p:nvSpPr>
          <p:cNvPr id="11" name="Shape 9"/>
          <p:cNvSpPr/>
          <p:nvPr/>
        </p:nvSpPr>
        <p:spPr>
          <a:xfrm>
            <a:off x="9633551" y="697635"/>
            <a:ext cx="40234" cy="40234"/>
          </a:xfrm>
          <a:prstGeom prst="ellipse">
            <a:avLst/>
          </a:prstGeom>
          <a:solidFill>
            <a:srgbClr val="141E36"/>
          </a:solidFill>
          <a:ln w="12700">
            <a:solidFill>
              <a:srgbClr val="141E36"/>
            </a:solidFill>
            <a:prstDash val="solid"/>
          </a:ln>
        </p:spPr>
      </p:sp>
      <p:sp>
        <p:nvSpPr>
          <p:cNvPr id="12" name="Shape 10"/>
          <p:cNvSpPr/>
          <p:nvPr/>
        </p:nvSpPr>
        <p:spPr>
          <a:xfrm>
            <a:off x="253142" y="67226"/>
            <a:ext cx="40234" cy="40234"/>
          </a:xfrm>
          <a:prstGeom prst="ellipse">
            <a:avLst/>
          </a:prstGeom>
          <a:solidFill>
            <a:srgbClr val="141E36"/>
          </a:solidFill>
          <a:ln w="12700">
            <a:solidFill>
              <a:srgbClr val="141E36"/>
            </a:solidFill>
            <a:prstDash val="solid"/>
          </a:ln>
        </p:spPr>
      </p:sp>
      <p:sp>
        <p:nvSpPr>
          <p:cNvPr id="13" name="Shape 11"/>
          <p:cNvSpPr/>
          <p:nvPr/>
        </p:nvSpPr>
        <p:spPr>
          <a:xfrm>
            <a:off x="9054881" y="772031"/>
            <a:ext cx="40234" cy="40234"/>
          </a:xfrm>
          <a:prstGeom prst="ellipse">
            <a:avLst/>
          </a:prstGeom>
          <a:solidFill>
            <a:srgbClr val="141E36"/>
          </a:solidFill>
          <a:ln w="12700">
            <a:solidFill>
              <a:srgbClr val="141E36"/>
            </a:solidFill>
            <a:prstDash val="solid"/>
          </a:ln>
        </p:spPr>
      </p:sp>
      <p:sp>
        <p:nvSpPr>
          <p:cNvPr id="14" name="Shape 12"/>
          <p:cNvSpPr/>
          <p:nvPr/>
        </p:nvSpPr>
        <p:spPr>
          <a:xfrm>
            <a:off x="2203098" y="222671"/>
            <a:ext cx="40234" cy="40234"/>
          </a:xfrm>
          <a:prstGeom prst="ellipse">
            <a:avLst/>
          </a:prstGeom>
          <a:solidFill>
            <a:srgbClr val="141E36"/>
          </a:solidFill>
          <a:ln w="12700">
            <a:solidFill>
              <a:srgbClr val="141E36"/>
            </a:solidFill>
            <a:prstDash val="solid"/>
          </a:ln>
        </p:spPr>
      </p:sp>
      <p:sp>
        <p:nvSpPr>
          <p:cNvPr id="15" name="Shape 13"/>
          <p:cNvSpPr/>
          <p:nvPr/>
        </p:nvSpPr>
        <p:spPr>
          <a:xfrm>
            <a:off x="9072861" y="794995"/>
            <a:ext cx="40234" cy="40234"/>
          </a:xfrm>
          <a:prstGeom prst="ellipse">
            <a:avLst/>
          </a:prstGeom>
          <a:solidFill>
            <a:srgbClr val="141E36"/>
          </a:solidFill>
          <a:ln w="12700">
            <a:solidFill>
              <a:srgbClr val="141E36"/>
            </a:solidFill>
            <a:prstDash val="solid"/>
          </a:ln>
        </p:spPr>
      </p:sp>
      <p:sp>
        <p:nvSpPr>
          <p:cNvPr id="16" name="Text 14"/>
          <p:cNvSpPr/>
          <p:nvPr/>
        </p:nvSpPr>
        <p:spPr>
          <a:xfrm>
            <a:off x="502920" y="365760"/>
            <a:ext cx="8229600" cy="256032"/>
          </a:xfrm>
          <a:prstGeom prst="rect">
            <a:avLst/>
          </a:prstGeom>
          <a:noFill/>
          <a:ln/>
        </p:spPr>
        <p:txBody>
          <a:bodyPr wrap="square"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05 · WHY IT WINS</a:t>
            </a:r>
            <a:endParaRPr lang="en-US" sz="1150" dirty="0"/>
          </a:p>
        </p:txBody>
      </p:sp>
      <p:sp>
        <p:nvSpPr>
          <p:cNvPr id="17" name="Text 15"/>
          <p:cNvSpPr/>
          <p:nvPr/>
        </p:nvSpPr>
        <p:spPr>
          <a:xfrm>
            <a:off x="484632" y="658368"/>
            <a:ext cx="10607040" cy="640080"/>
          </a:xfrm>
          <a:prstGeom prst="rect">
            <a:avLst/>
          </a:prstGeom>
          <a:noFill/>
          <a:ln/>
        </p:spPr>
        <p:txBody>
          <a:bodyPr wrap="square" rtlCol="0" anchor="t"/>
          <a:lstStyle/>
          <a:p>
            <a:pPr algn="l" indent="0" marL="0">
              <a:lnSpc>
                <a:spcPct val="105000"/>
              </a:lnSpc>
              <a:buNone/>
            </a:pPr>
            <a:r>
              <a:rPr lang="en-US" sz="3000" b="1" dirty="0">
                <a:solidFill>
                  <a:srgbClr val="F1F5F9"/>
                </a:solidFill>
                <a:latin typeface="Calibri" pitchFamily="34" charset="0"/>
                <a:ea typeface="Calibri" pitchFamily="34" charset="-122"/>
                <a:cs typeface="Calibri" pitchFamily="34" charset="-120"/>
              </a:rPr>
              <a:t>Easier Governance—Not “Faster Kernels”</a:t>
            </a:r>
            <a:endParaRPr lang="en-US" sz="3000" dirty="0"/>
          </a:p>
        </p:txBody>
      </p:sp>
      <p:sp>
        <p:nvSpPr>
          <p:cNvPr id="18" name="Shape 16"/>
          <p:cNvSpPr/>
          <p:nvPr/>
        </p:nvSpPr>
        <p:spPr>
          <a:xfrm>
            <a:off x="466344" y="1883664"/>
            <a:ext cx="420624" cy="420624"/>
          </a:xfrm>
          <a:prstGeom prst="ellipse">
            <a:avLst/>
          </a:prstGeom>
          <a:solidFill>
            <a:srgbClr val="1C2947"/>
          </a:solidFill>
          <a:ln w="9525">
            <a:solidFill>
              <a:srgbClr val="22D3EE"/>
            </a:solidFill>
            <a:prstDash val="solid"/>
          </a:ln>
        </p:spPr>
      </p:sp>
      <p:pic>
        <p:nvPicPr>
          <p:cNvPr id="19" name="Image 0" descr="/home/claude/emergegpt/assets/icons/uploadCloud_cyan.png">    </p:cNvPr>
          <p:cNvPicPr>
            <a:picLocks noChangeAspect="1"/>
          </p:cNvPicPr>
          <p:nvPr/>
        </p:nvPicPr>
        <p:blipFill>
          <a:blip r:embed="rId1"/>
          <a:stretch>
            <a:fillRect/>
          </a:stretch>
        </p:blipFill>
        <p:spPr>
          <a:xfrm>
            <a:off x="567294" y="1984614"/>
            <a:ext cx="218724" cy="218724"/>
          </a:xfrm>
          <a:prstGeom prst="rect">
            <a:avLst/>
          </a:prstGeom>
        </p:spPr>
      </p:pic>
      <p:sp>
        <p:nvSpPr>
          <p:cNvPr id="20" name="Text 17"/>
          <p:cNvSpPr/>
          <p:nvPr/>
        </p:nvSpPr>
        <p:spPr>
          <a:xfrm>
            <a:off x="987552" y="1892808"/>
            <a:ext cx="4800600" cy="402336"/>
          </a:xfrm>
          <a:prstGeom prst="rect">
            <a:avLst/>
          </a:prstGeom>
          <a:noFill/>
          <a:ln/>
        </p:spPr>
        <p:txBody>
          <a:bodyPr wrap="square" rtlCol="0" anchor="ctr"/>
          <a:lstStyle/>
          <a:p>
            <a:pPr indent="0" marL="0">
              <a:buNone/>
            </a:pPr>
            <a:r>
              <a:rPr lang="en-US" sz="1400" b="1" spc="50" kern="0" dirty="0">
                <a:solidFill>
                  <a:srgbClr val="F1F5F9"/>
                </a:solidFill>
                <a:latin typeface="Calibri" pitchFamily="34" charset="0"/>
                <a:ea typeface="Calibri" pitchFamily="34" charset="-122"/>
                <a:cs typeface="Calibri" pitchFamily="34" charset="-120"/>
              </a:rPr>
              <a:t>ENTERPRISE VALUE</a:t>
            </a:r>
            <a:endParaRPr lang="en-US" sz="1400" dirty="0"/>
          </a:p>
        </p:txBody>
      </p:sp>
      <p:sp>
        <p:nvSpPr>
          <p:cNvPr id="21" name="Text 18"/>
          <p:cNvSpPr/>
          <p:nvPr/>
        </p:nvSpPr>
        <p:spPr>
          <a:xfrm>
            <a:off x="457200" y="2560320"/>
            <a:ext cx="5349240" cy="3108960"/>
          </a:xfrm>
          <a:prstGeom prst="rect">
            <a:avLst/>
          </a:prstGeom>
          <a:noFill/>
          <a:ln/>
        </p:spPr>
        <p:txBody>
          <a:bodyPr wrap="square" rtlCol="0" anchor="t"/>
          <a:lstStyle/>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CRAFT data and policy context</a:t>
            </a:r>
            <a:endParaRPr lang="en-US" sz="1650" dirty="0"/>
          </a:p>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Immutable reviews and run history</a:t>
            </a:r>
            <a:endParaRPr lang="en-US" sz="1650" dirty="0"/>
          </a:p>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Managed Nebius training and budgets</a:t>
            </a:r>
            <a:endParaRPr lang="en-US" sz="1650" dirty="0"/>
          </a:p>
        </p:txBody>
      </p:sp>
      <p:sp>
        <p:nvSpPr>
          <p:cNvPr id="22" name="Shape 19"/>
          <p:cNvSpPr/>
          <p:nvPr/>
        </p:nvSpPr>
        <p:spPr>
          <a:xfrm>
            <a:off x="6391656" y="1883664"/>
            <a:ext cx="420624" cy="420624"/>
          </a:xfrm>
          <a:prstGeom prst="ellipse">
            <a:avLst/>
          </a:prstGeom>
          <a:solidFill>
            <a:srgbClr val="1C2947"/>
          </a:solidFill>
          <a:ln w="9525">
            <a:solidFill>
              <a:srgbClr val="A78BFA"/>
            </a:solidFill>
            <a:prstDash val="solid"/>
          </a:ln>
        </p:spPr>
      </p:sp>
      <p:pic>
        <p:nvPicPr>
          <p:cNvPr id="23" name="Image 1" descr="/home/claude/emergegpt/assets/icons/gitBranch_violet.png">    </p:cNvPr>
          <p:cNvPicPr>
            <a:picLocks noChangeAspect="1"/>
          </p:cNvPicPr>
          <p:nvPr/>
        </p:nvPicPr>
        <p:blipFill>
          <a:blip r:embed="rId2"/>
          <a:stretch>
            <a:fillRect/>
          </a:stretch>
        </p:blipFill>
        <p:spPr>
          <a:xfrm>
            <a:off x="6492606" y="1984614"/>
            <a:ext cx="218724" cy="218724"/>
          </a:xfrm>
          <a:prstGeom prst="rect">
            <a:avLst/>
          </a:prstGeom>
        </p:spPr>
      </p:pic>
      <p:sp>
        <p:nvSpPr>
          <p:cNvPr id="24" name="Text 20"/>
          <p:cNvSpPr/>
          <p:nvPr/>
        </p:nvSpPr>
        <p:spPr>
          <a:xfrm>
            <a:off x="6912864" y="1892808"/>
            <a:ext cx="4800600" cy="402336"/>
          </a:xfrm>
          <a:prstGeom prst="rect">
            <a:avLst/>
          </a:prstGeom>
          <a:noFill/>
          <a:ln/>
        </p:spPr>
        <p:txBody>
          <a:bodyPr wrap="square" rtlCol="0" anchor="ctr"/>
          <a:lstStyle/>
          <a:p>
            <a:pPr indent="0" marL="0">
              <a:buNone/>
            </a:pPr>
            <a:r>
              <a:rPr lang="en-US" sz="1400" b="1" spc="50" kern="0" dirty="0">
                <a:solidFill>
                  <a:srgbClr val="F1F5F9"/>
                </a:solidFill>
                <a:latin typeface="Calibri" pitchFamily="34" charset="0"/>
                <a:ea typeface="Calibri" pitchFamily="34" charset="-122"/>
                <a:cs typeface="Calibri" pitchFamily="34" charset="-120"/>
              </a:rPr>
              <a:t>COMPLEMENTS UNSLOTH</a:t>
            </a:r>
            <a:endParaRPr lang="en-US" sz="1400" dirty="0"/>
          </a:p>
        </p:txBody>
      </p:sp>
      <p:sp>
        <p:nvSpPr>
          <p:cNvPr id="25" name="Text 21"/>
          <p:cNvSpPr/>
          <p:nvPr/>
        </p:nvSpPr>
        <p:spPr>
          <a:xfrm>
            <a:off x="6382512" y="2560320"/>
            <a:ext cx="5349240" cy="3108960"/>
          </a:xfrm>
          <a:prstGeom prst="rect">
            <a:avLst/>
          </a:prstGeom>
          <a:noFill/>
          <a:ln/>
        </p:spPr>
        <p:txBody>
          <a:bodyPr wrap="square" rtlCol="0" anchor="t"/>
          <a:lstStyle/>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Unsloth excels at local speed, VRAM, and export</a:t>
            </a:r>
            <a:endParaRPr lang="en-US" sz="1650" dirty="0"/>
          </a:p>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EmergeGPT adds catalogs, policy, review, and operations</a:t>
            </a:r>
            <a:endParaRPr lang="en-US" sz="1650" dirty="0"/>
          </a:p>
          <a:p>
            <a:pPr algn="l" marL="177800" indent="-177800">
              <a:lnSpc>
                <a:spcPct val="108000"/>
              </a:lnSpc>
              <a:spcAft>
                <a:spcPts val="2400"/>
              </a:spcAft>
              <a:buSzPct val="100000"/>
              <a:buChar char="▪"/>
            </a:pPr>
            <a:r>
              <a:rPr lang="en-US" sz="1650" dirty="0">
                <a:solidFill>
                  <a:srgbClr val="F1F5F9"/>
                </a:solidFill>
                <a:latin typeface="Calibri" pitchFamily="34" charset="0"/>
                <a:ea typeface="Calibri" pitchFamily="34" charset="-122"/>
                <a:cs typeface="Calibri" pitchFamily="34" charset="-120"/>
              </a:rPr>
              <a:t>Use either—or integrate Unsloth as a local backend</a:t>
            </a:r>
            <a:endParaRPr lang="en-US" sz="1650" dirty="0"/>
          </a:p>
        </p:txBody>
      </p:sp>
      <p:sp>
        <p:nvSpPr>
          <p:cNvPr id="26" name="Shape 22"/>
          <p:cNvSpPr/>
          <p:nvPr/>
        </p:nvSpPr>
        <p:spPr>
          <a:xfrm>
            <a:off x="457200" y="5074920"/>
            <a:ext cx="11274552" cy="868680"/>
          </a:xfrm>
          <a:prstGeom prst="roundRect">
            <a:avLst>
              <a:gd name="adj" fmla="val 10526"/>
            </a:avLst>
          </a:prstGeom>
          <a:solidFill>
            <a:srgbClr val="1A1533"/>
          </a:solidFill>
          <a:ln w="12700">
            <a:solidFill>
              <a:srgbClr val="A78BFA"/>
            </a:solidFill>
            <a:prstDash val="solid"/>
          </a:ln>
        </p:spPr>
      </p:sp>
      <p:sp>
        <p:nvSpPr>
          <p:cNvPr id="27" name="Text 23"/>
          <p:cNvSpPr/>
          <p:nvPr/>
        </p:nvSpPr>
        <p:spPr>
          <a:xfrm>
            <a:off x="822960" y="5074920"/>
            <a:ext cx="10543032" cy="868680"/>
          </a:xfrm>
          <a:prstGeom prst="rect">
            <a:avLst/>
          </a:prstGeom>
          <a:noFill/>
          <a:ln/>
        </p:spPr>
        <p:txBody>
          <a:bodyPr wrap="square" rtlCol="0" anchor="ctr"/>
          <a:lstStyle/>
          <a:p>
            <a:pPr algn="ctr" indent="0" marL="0">
              <a:lnSpc>
                <a:spcPct val="115000"/>
              </a:lnSpc>
              <a:buNone/>
            </a:pPr>
            <a:r>
              <a:rPr lang="en-US" sz="1900" b="1" i="1" dirty="0">
                <a:solidFill>
                  <a:srgbClr val="F1F5F9"/>
                </a:solidFill>
                <a:latin typeface="Calibri" pitchFamily="34" charset="0"/>
                <a:ea typeface="Calibri" pitchFamily="34" charset="-122"/>
                <a:cs typeface="Calibri" pitchFamily="34" charset="-120"/>
              </a:rPr>
              <a:t>“Use EmergeGPT when governed learning matters as much as training.”</a:t>
            </a:r>
            <a:endParaRPr lang="en-US" sz="1900" dirty="0"/>
          </a:p>
        </p:txBody>
      </p:sp>
      <p:sp>
        <p:nvSpPr>
          <p:cNvPr id="28" name="Text 24"/>
          <p:cNvSpPr/>
          <p:nvPr/>
        </p:nvSpPr>
        <p:spPr>
          <a:xfrm>
            <a:off x="502920" y="6528816"/>
            <a:ext cx="2743200" cy="256032"/>
          </a:xfrm>
          <a:prstGeom prst="rect">
            <a:avLst/>
          </a:prstGeom>
          <a:noFill/>
          <a:ln/>
        </p:spPr>
        <p:txBody>
          <a:bodyPr wrap="square" rtlCol="0" anchor="ctr"/>
          <a:lstStyle/>
          <a:p>
            <a:pPr indent="0" marL="0">
              <a:buNone/>
            </a:pPr>
            <a:r>
              <a:rPr lang="en-US" sz="900" b="1" spc="200" kern="0" dirty="0">
                <a:solidFill>
                  <a:srgbClr val="4B5878"/>
                </a:solidFill>
                <a:latin typeface="Calibri" pitchFamily="34" charset="0"/>
                <a:ea typeface="Calibri" pitchFamily="34" charset="-122"/>
                <a:cs typeface="Calibri" pitchFamily="34" charset="-120"/>
              </a:rPr>
              <a:t>EMERGEGPT</a:t>
            </a:r>
            <a:endParaRPr lang="en-US" sz="900" dirty="0"/>
          </a:p>
        </p:txBody>
      </p:sp>
      <p:sp>
        <p:nvSpPr>
          <p:cNvPr id="29" name="Text 25"/>
          <p:cNvSpPr/>
          <p:nvPr/>
        </p:nvSpPr>
        <p:spPr>
          <a:xfrm>
            <a:off x="10454335" y="6528816"/>
            <a:ext cx="1234440" cy="256032"/>
          </a:xfrm>
          <a:prstGeom prst="rect">
            <a:avLst/>
          </a:prstGeom>
          <a:noFill/>
          <a:ln/>
        </p:spPr>
        <p:txBody>
          <a:bodyPr wrap="square" rtlCol="0" anchor="ctr"/>
          <a:lstStyle/>
          <a:p>
            <a:pPr algn="r" indent="0" marL="0">
              <a:buNone/>
            </a:pPr>
            <a:r>
              <a:rPr lang="en-US" sz="900" dirty="0">
                <a:solidFill>
                  <a:srgbClr val="4B5878"/>
                </a:solidFill>
                <a:latin typeface="Calibri" pitchFamily="34" charset="0"/>
                <a:ea typeface="Calibri" pitchFamily="34" charset="-122"/>
                <a:cs typeface="Calibri" pitchFamily="34" charset="-120"/>
              </a:rPr>
              <a:t>06 /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2026-07-11T22:15:02Z</dcterms:created>
  <dcterms:modified xsi:type="dcterms:W3CDTF">2026-07-11T22:15:02Z</dcterms:modified>
</cp:coreProperties>
</file>